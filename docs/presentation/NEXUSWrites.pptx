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Sniglet" charset="1" panose="04070505030100020000"/>
      <p:regular r:id="rId24"/>
    </p:embeddedFont>
    <p:embeddedFont>
      <p:font typeface="Archivo Black" charset="1" panose="020B0A03020202020B04"/>
      <p:regular r:id="rId25"/>
    </p:embeddedFont>
    <p:embeddedFont>
      <p:font typeface="Adlery Pro" charset="1" panose="00000000000000000000"/>
      <p:regular r:id="rId26"/>
    </p:embeddedFont>
    <p:embeddedFont>
      <p:font typeface="Pluma" charset="1" panose="00000000000000000000"/>
      <p:regular r:id="rId27"/>
    </p:embeddedFont>
    <p:embeddedFont>
      <p:font typeface="Biski Bold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7.png" Type="http://schemas.openxmlformats.org/officeDocument/2006/relationships/image"/><Relationship Id="rId11" Target="../media/image28.svg" Type="http://schemas.openxmlformats.org/officeDocument/2006/relationships/image"/><Relationship Id="rId12" Target="../media/image29.png" Type="http://schemas.openxmlformats.org/officeDocument/2006/relationships/image"/><Relationship Id="rId13" Target="../media/image30.svg" Type="http://schemas.openxmlformats.org/officeDocument/2006/relationships/image"/><Relationship Id="rId14" Target="../media/image31.png" Type="http://schemas.openxmlformats.org/officeDocument/2006/relationships/image"/><Relationship Id="rId15" Target="../media/image32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Relationship Id="rId6" Target="../media/image23.png" Type="http://schemas.openxmlformats.org/officeDocument/2006/relationships/image"/><Relationship Id="rId7" Target="../media/image24.svg" Type="http://schemas.openxmlformats.org/officeDocument/2006/relationships/image"/><Relationship Id="rId8" Target="../media/image25.png" Type="http://schemas.openxmlformats.org/officeDocument/2006/relationships/image"/><Relationship Id="rId9" Target="../media/image2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14" Target="../media/image21.png" Type="http://schemas.openxmlformats.org/officeDocument/2006/relationships/image"/><Relationship Id="rId15" Target="../media/image22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21.png" Type="http://schemas.openxmlformats.org/officeDocument/2006/relationships/image"/><Relationship Id="rId13" Target="../media/image22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16" Target="../media/image39.png" Type="http://schemas.openxmlformats.org/officeDocument/2006/relationships/image"/><Relationship Id="rId17" Target="../media/image40.svg" Type="http://schemas.openxmlformats.org/officeDocument/2006/relationships/image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41.png" Type="http://schemas.openxmlformats.org/officeDocument/2006/relationships/image"/><Relationship Id="rId13" Target="../media/image42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35.png" Type="http://schemas.openxmlformats.org/officeDocument/2006/relationships/image"/><Relationship Id="rId5" Target="../media/image36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1.png" Type="http://schemas.openxmlformats.org/officeDocument/2006/relationships/image"/><Relationship Id="rId11" Target="../media/image42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49.png" Type="http://schemas.openxmlformats.org/officeDocument/2006/relationships/image"/><Relationship Id="rId5" Target="../media/image50.svg" Type="http://schemas.openxmlformats.org/officeDocument/2006/relationships/image"/><Relationship Id="rId6" Target="../media/image37.png" Type="http://schemas.openxmlformats.org/officeDocument/2006/relationships/image"/><Relationship Id="rId7" Target="../media/image38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png" Type="http://schemas.openxmlformats.org/officeDocument/2006/relationships/image"/><Relationship Id="rId11" Target="../media/image16.svg" Type="http://schemas.openxmlformats.org/officeDocument/2006/relationships/image"/><Relationship Id="rId12" Target="../media/image17.png" Type="http://schemas.openxmlformats.org/officeDocument/2006/relationships/image"/><Relationship Id="rId13" Target="../media/image18.svg" Type="http://schemas.openxmlformats.org/officeDocument/2006/relationships/image"/><Relationship Id="rId14" Target="../media/image19.png" Type="http://schemas.openxmlformats.org/officeDocument/2006/relationships/image"/><Relationship Id="rId15" Target="../media/image20.svg" Type="http://schemas.openxmlformats.org/officeDocument/2006/relationships/image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3.png" Type="http://schemas.openxmlformats.org/officeDocument/2006/relationships/image"/><Relationship Id="rId11" Target="../media/image54.svg" Type="http://schemas.openxmlformats.org/officeDocument/2006/relationships/image"/><Relationship Id="rId12" Target="../media/image39.png" Type="http://schemas.openxmlformats.org/officeDocument/2006/relationships/image"/><Relationship Id="rId13" Target="../media/image40.svg" Type="http://schemas.openxmlformats.org/officeDocument/2006/relationships/image"/><Relationship Id="rId14" Target="../media/image41.png" Type="http://schemas.openxmlformats.org/officeDocument/2006/relationships/image"/><Relationship Id="rId15" Target="../media/image42.svg" Type="http://schemas.openxmlformats.org/officeDocument/2006/relationships/image"/><Relationship Id="rId2" Target="../media/image33.png" Type="http://schemas.openxmlformats.org/officeDocument/2006/relationships/image"/><Relationship Id="rId3" Target="../media/image34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37.png" Type="http://schemas.openxmlformats.org/officeDocument/2006/relationships/image"/><Relationship Id="rId9" Target="../media/image3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7.png" Type="http://schemas.openxmlformats.org/officeDocument/2006/relationships/image"/><Relationship Id="rId11" Target="../media/image4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55.png" Type="http://schemas.openxmlformats.org/officeDocument/2006/relationships/image"/><Relationship Id="rId3" Target="../media/image56.svg" Type="http://schemas.openxmlformats.org/officeDocument/2006/relationships/image"/><Relationship Id="rId4" Target="../media/image57.png" Type="http://schemas.openxmlformats.org/officeDocument/2006/relationships/image"/><Relationship Id="rId5" Target="../media/image58.svg" Type="http://schemas.openxmlformats.org/officeDocument/2006/relationships/image"/><Relationship Id="rId6" Target="../media/image17.png" Type="http://schemas.openxmlformats.org/officeDocument/2006/relationships/image"/><Relationship Id="rId7" Target="../media/image18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1.png" Type="http://schemas.openxmlformats.org/officeDocument/2006/relationships/image"/><Relationship Id="rId11" Target="../media/image62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59.png" Type="http://schemas.openxmlformats.org/officeDocument/2006/relationships/image"/><Relationship Id="rId7" Target="../media/image6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7.png" Type="http://schemas.openxmlformats.org/officeDocument/2006/relationships/image"/><Relationship Id="rId11" Target="../media/image38.svg" Type="http://schemas.openxmlformats.org/officeDocument/2006/relationships/image"/><Relationship Id="rId12" Target="../media/image51.png" Type="http://schemas.openxmlformats.org/officeDocument/2006/relationships/image"/><Relationship Id="rId13" Target="../media/image52.svg" Type="http://schemas.openxmlformats.org/officeDocument/2006/relationships/image"/><Relationship Id="rId2" Target="../media/image39.png" Type="http://schemas.openxmlformats.org/officeDocument/2006/relationships/image"/><Relationship Id="rId3" Target="../media/image40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41.png" Type="http://schemas.openxmlformats.org/officeDocument/2006/relationships/image"/><Relationship Id="rId7" Target="../media/image42.svg" Type="http://schemas.openxmlformats.org/officeDocument/2006/relationships/image"/><Relationship Id="rId8" Target="../media/image61.png" Type="http://schemas.openxmlformats.org/officeDocument/2006/relationships/image"/><Relationship Id="rId9" Target="../media/image6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65.png" Type="http://schemas.openxmlformats.org/officeDocument/2006/relationships/image"/><Relationship Id="rId9" Target="../media/image66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media/image39.png" Type="http://schemas.openxmlformats.org/officeDocument/2006/relationships/image"/><Relationship Id="rId9" Target="../media/image40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11.png" Type="http://schemas.openxmlformats.org/officeDocument/2006/relationships/image"/><Relationship Id="rId7" Target="../media/image12.svg" Type="http://schemas.openxmlformats.org/officeDocument/2006/relationships/image"/><Relationship Id="rId8" Target="../media/image67.png" Type="http://schemas.openxmlformats.org/officeDocument/2006/relationships/image"/><Relationship Id="rId9" Target="../media/image68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43.png" Type="http://schemas.openxmlformats.org/officeDocument/2006/relationships/image"/><Relationship Id="rId7" Target="../media/image44.svg" Type="http://schemas.openxmlformats.org/officeDocument/2006/relationships/image"/><Relationship Id="rId8" Target="../media/image71.png" Type="http://schemas.openxmlformats.org/officeDocument/2006/relationships/image"/><Relationship Id="rId9" Target="../media/image72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63.png" Type="http://schemas.openxmlformats.org/officeDocument/2006/relationships/image"/><Relationship Id="rId5" Target="../media/image64.sv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Relationship Id="rId8" Target="../media/image73.png" Type="http://schemas.openxmlformats.org/officeDocument/2006/relationships/image"/><Relationship Id="rId9" Target="../media/image7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692" y="5408956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4453295"/>
            <a:ext cx="18288000" cy="6747202"/>
            <a:chOff x="0" y="0"/>
            <a:chExt cx="4816593" cy="177704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777041"/>
            </a:xfrm>
            <a:custGeom>
              <a:avLst/>
              <a:gdLst/>
              <a:ahLst/>
              <a:cxnLst/>
              <a:rect r="r" b="b" t="t" l="l"/>
              <a:pathLst>
                <a:path h="177704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777041"/>
                  </a:lnTo>
                  <a:lnTo>
                    <a:pt x="0" y="1777041"/>
                  </a:lnTo>
                  <a:close/>
                </a:path>
              </a:pathLst>
            </a:custGeom>
            <a:gradFill rotWithShape="true">
              <a:gsLst>
                <a:gs pos="0">
                  <a:srgbClr val="FFF7EF">
                    <a:alpha val="100000"/>
                  </a:srgbClr>
                </a:gs>
                <a:gs pos="100000">
                  <a:srgbClr val="FFF8F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816593" cy="17675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2197745" y="1618275"/>
            <a:ext cx="13892511" cy="7050449"/>
          </a:xfrm>
          <a:custGeom>
            <a:avLst/>
            <a:gdLst/>
            <a:ahLst/>
            <a:cxnLst/>
            <a:rect r="r" b="b" t="t" l="l"/>
            <a:pathLst>
              <a:path h="7050449" w="13892511">
                <a:moveTo>
                  <a:pt x="0" y="0"/>
                </a:moveTo>
                <a:lnTo>
                  <a:pt x="13892510" y="0"/>
                </a:lnTo>
                <a:lnTo>
                  <a:pt x="13892510" y="7050450"/>
                </a:lnTo>
                <a:lnTo>
                  <a:pt x="0" y="70504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407443">
            <a:off x="1721327" y="2271796"/>
            <a:ext cx="1383484" cy="2359887"/>
          </a:xfrm>
          <a:custGeom>
            <a:avLst/>
            <a:gdLst/>
            <a:ahLst/>
            <a:cxnLst/>
            <a:rect r="r" b="b" t="t" l="l"/>
            <a:pathLst>
              <a:path h="2359887" w="1383484">
                <a:moveTo>
                  <a:pt x="0" y="0"/>
                </a:moveTo>
                <a:lnTo>
                  <a:pt x="1383484" y="0"/>
                </a:lnTo>
                <a:lnTo>
                  <a:pt x="1383484" y="2359887"/>
                </a:lnTo>
                <a:lnTo>
                  <a:pt x="0" y="23598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034597">
            <a:off x="14573162" y="4526936"/>
            <a:ext cx="1102525" cy="1764039"/>
          </a:xfrm>
          <a:custGeom>
            <a:avLst/>
            <a:gdLst/>
            <a:ahLst/>
            <a:cxnLst/>
            <a:rect r="r" b="b" t="t" l="l"/>
            <a:pathLst>
              <a:path h="1764039" w="1102525">
                <a:moveTo>
                  <a:pt x="0" y="0"/>
                </a:moveTo>
                <a:lnTo>
                  <a:pt x="1102525" y="0"/>
                </a:lnTo>
                <a:lnTo>
                  <a:pt x="1102525" y="1764040"/>
                </a:lnTo>
                <a:lnTo>
                  <a:pt x="0" y="17640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635862">
            <a:off x="14142005" y="655069"/>
            <a:ext cx="2747916" cy="2565867"/>
          </a:xfrm>
          <a:custGeom>
            <a:avLst/>
            <a:gdLst/>
            <a:ahLst/>
            <a:cxnLst/>
            <a:rect r="r" b="b" t="t" l="l"/>
            <a:pathLst>
              <a:path h="2565867" w="2747916">
                <a:moveTo>
                  <a:pt x="0" y="0"/>
                </a:moveTo>
                <a:lnTo>
                  <a:pt x="2747916" y="0"/>
                </a:lnTo>
                <a:lnTo>
                  <a:pt x="2747916" y="2565866"/>
                </a:lnTo>
                <a:lnTo>
                  <a:pt x="0" y="256586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21323" y="5696794"/>
            <a:ext cx="4457790" cy="5306893"/>
          </a:xfrm>
          <a:custGeom>
            <a:avLst/>
            <a:gdLst/>
            <a:ahLst/>
            <a:cxnLst/>
            <a:rect r="r" b="b" t="t" l="l"/>
            <a:pathLst>
              <a:path h="5306893" w="4457790">
                <a:moveTo>
                  <a:pt x="0" y="0"/>
                </a:moveTo>
                <a:lnTo>
                  <a:pt x="4457790" y="0"/>
                </a:lnTo>
                <a:lnTo>
                  <a:pt x="4457790" y="5306893"/>
                </a:lnTo>
                <a:lnTo>
                  <a:pt x="0" y="530689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true" flipV="false" rot="-309925">
            <a:off x="13506255" y="6319282"/>
            <a:ext cx="5730348" cy="4698885"/>
          </a:xfrm>
          <a:custGeom>
            <a:avLst/>
            <a:gdLst/>
            <a:ahLst/>
            <a:cxnLst/>
            <a:rect r="r" b="b" t="t" l="l"/>
            <a:pathLst>
              <a:path h="4698885" w="5730348">
                <a:moveTo>
                  <a:pt x="5730348" y="0"/>
                </a:moveTo>
                <a:lnTo>
                  <a:pt x="0" y="0"/>
                </a:lnTo>
                <a:lnTo>
                  <a:pt x="0" y="4698885"/>
                </a:lnTo>
                <a:lnTo>
                  <a:pt x="5730348" y="4698885"/>
                </a:lnTo>
                <a:lnTo>
                  <a:pt x="5730348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591483" y="7756621"/>
            <a:ext cx="3105033" cy="1824207"/>
          </a:xfrm>
          <a:custGeom>
            <a:avLst/>
            <a:gdLst/>
            <a:ahLst/>
            <a:cxnLst/>
            <a:rect r="r" b="b" t="t" l="l"/>
            <a:pathLst>
              <a:path h="1824207" w="3105033">
                <a:moveTo>
                  <a:pt x="0" y="0"/>
                </a:moveTo>
                <a:lnTo>
                  <a:pt x="3105034" y="0"/>
                </a:lnTo>
                <a:lnTo>
                  <a:pt x="3105034" y="1824207"/>
                </a:lnTo>
                <a:lnTo>
                  <a:pt x="0" y="182420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2636248">
            <a:off x="8475537" y="7961068"/>
            <a:ext cx="1055807" cy="1251327"/>
          </a:xfrm>
          <a:custGeom>
            <a:avLst/>
            <a:gdLst/>
            <a:ahLst/>
            <a:cxnLst/>
            <a:rect r="r" b="b" t="t" l="l"/>
            <a:pathLst>
              <a:path h="1251327" w="1055807">
                <a:moveTo>
                  <a:pt x="0" y="0"/>
                </a:moveTo>
                <a:lnTo>
                  <a:pt x="1055808" y="0"/>
                </a:lnTo>
                <a:lnTo>
                  <a:pt x="1055808" y="1251327"/>
                </a:lnTo>
                <a:lnTo>
                  <a:pt x="0" y="1251327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036294" y="2608004"/>
            <a:ext cx="4215411" cy="467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80"/>
              </a:lnSpc>
              <a:spcBef>
                <a:spcPct val="0"/>
              </a:spcBef>
            </a:pPr>
            <a:r>
              <a:rPr lang="en-US" sz="3200">
                <a:solidFill>
                  <a:srgbClr val="2A2A34"/>
                </a:solidFill>
                <a:latin typeface="Sniglet"/>
                <a:ea typeface="Sniglet"/>
                <a:cs typeface="Sniglet"/>
                <a:sym typeface="Sniglet"/>
              </a:rPr>
              <a:t>POWERPUFFGALS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349965" y="3623910"/>
            <a:ext cx="6901740" cy="14522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09"/>
              </a:lnSpc>
              <a:spcBef>
                <a:spcPct val="0"/>
              </a:spcBef>
            </a:pPr>
            <a:r>
              <a:rPr lang="en-US" sz="10099" spc="-201">
                <a:solidFill>
                  <a:srgbClr val="FFF7EF"/>
                </a:solidFill>
                <a:latin typeface="Archivo Black"/>
                <a:ea typeface="Archivo Black"/>
                <a:cs typeface="Archivo Black"/>
                <a:sym typeface="Archivo Black"/>
              </a:rPr>
              <a:t>NEXUS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144000" y="3684315"/>
            <a:ext cx="5393739" cy="1537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1109"/>
              </a:lnSpc>
              <a:spcBef>
                <a:spcPct val="0"/>
              </a:spcBef>
            </a:pPr>
            <a:r>
              <a:rPr lang="en-US" sz="10099" spc="-201">
                <a:solidFill>
                  <a:srgbClr val="FFF7EF"/>
                </a:solidFill>
                <a:latin typeface="Adlery Pro"/>
                <a:ea typeface="Adlery Pro"/>
                <a:cs typeface="Adlery Pro"/>
                <a:sym typeface="Adlery Pro"/>
              </a:rPr>
              <a:t>Writes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16677" y="6080392"/>
            <a:ext cx="9919805" cy="1121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595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PRESENTED BY: GR</a:t>
            </a:r>
            <a:r>
              <a:rPr lang="en-US" sz="2595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OUP POWERPUFFGALS</a:t>
            </a:r>
          </a:p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595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BICOL UNIVERSITY POLANGUI CAMPUS </a:t>
            </a:r>
          </a:p>
          <a:p>
            <a:pPr algn="ctr">
              <a:lnSpc>
                <a:spcPts val="2984"/>
              </a:lnSpc>
              <a:spcBef>
                <a:spcPct val="0"/>
              </a:spcBef>
            </a:pPr>
            <a:r>
              <a:rPr lang="en-US" sz="2595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IT 112: WEB SYSTEMS AND TECHNOLOGIES | A.Y. 2025-2026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73316" y="5085672"/>
            <a:ext cx="4606528" cy="547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49"/>
              </a:lnSpc>
              <a:spcBef>
                <a:spcPct val="0"/>
              </a:spcBef>
            </a:pPr>
            <a:r>
              <a:rPr lang="en-US" sz="3695">
                <a:solidFill>
                  <a:srgbClr val="FFFFFF"/>
                </a:solidFill>
                <a:latin typeface="Pluma"/>
                <a:ea typeface="Pluma"/>
                <a:cs typeface="Pluma"/>
                <a:sym typeface="Pluma"/>
              </a:rPr>
              <a:t>YOUR TECH, YOUR STORY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8867780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8686805"/>
            <a:ext cx="18288000" cy="5188862"/>
            <a:chOff x="0" y="0"/>
            <a:chExt cx="4816593" cy="136661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366614"/>
            </a:xfrm>
            <a:custGeom>
              <a:avLst/>
              <a:gdLst/>
              <a:ahLst/>
              <a:cxnLst/>
              <a:rect r="r" b="b" t="t" l="l"/>
              <a:pathLst>
                <a:path h="1366614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366614"/>
                  </a:lnTo>
                  <a:lnTo>
                    <a:pt x="0" y="1366614"/>
                  </a:lnTo>
                  <a:close/>
                </a:path>
              </a:pathLst>
            </a:custGeom>
            <a:gradFill rotWithShape="true">
              <a:gsLst>
                <a:gs pos="0">
                  <a:srgbClr val="83C9D0">
                    <a:alpha val="100000"/>
                  </a:srgbClr>
                </a:gs>
                <a:gs pos="100000">
                  <a:srgbClr val="83C9D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816593" cy="135708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4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30552" y="3974603"/>
            <a:ext cx="978507" cy="978507"/>
            <a:chOff x="0" y="0"/>
            <a:chExt cx="1557885" cy="155788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57885" cy="1557885"/>
            </a:xfrm>
            <a:custGeom>
              <a:avLst/>
              <a:gdLst/>
              <a:ahLst/>
              <a:cxnLst/>
              <a:rect r="r" b="b" t="t" l="l"/>
              <a:pathLst>
                <a:path h="1557885" w="1557885">
                  <a:moveTo>
                    <a:pt x="79120" y="0"/>
                  </a:moveTo>
                  <a:lnTo>
                    <a:pt x="1478765" y="0"/>
                  </a:lnTo>
                  <a:cubicBezTo>
                    <a:pt x="1499749" y="0"/>
                    <a:pt x="1519874" y="8336"/>
                    <a:pt x="1534712" y="23174"/>
                  </a:cubicBezTo>
                  <a:cubicBezTo>
                    <a:pt x="1549549" y="38011"/>
                    <a:pt x="1557885" y="58136"/>
                    <a:pt x="1557885" y="79120"/>
                  </a:cubicBezTo>
                  <a:lnTo>
                    <a:pt x="1557885" y="1478765"/>
                  </a:lnTo>
                  <a:cubicBezTo>
                    <a:pt x="1557885" y="1499749"/>
                    <a:pt x="1549549" y="1519874"/>
                    <a:pt x="1534712" y="1534712"/>
                  </a:cubicBezTo>
                  <a:cubicBezTo>
                    <a:pt x="1519874" y="1549549"/>
                    <a:pt x="1499749" y="1557885"/>
                    <a:pt x="1478765" y="1557885"/>
                  </a:cubicBezTo>
                  <a:lnTo>
                    <a:pt x="79120" y="1557885"/>
                  </a:lnTo>
                  <a:cubicBezTo>
                    <a:pt x="58136" y="1557885"/>
                    <a:pt x="38011" y="1549549"/>
                    <a:pt x="23174" y="1534712"/>
                  </a:cubicBezTo>
                  <a:cubicBezTo>
                    <a:pt x="8336" y="1519874"/>
                    <a:pt x="0" y="1499749"/>
                    <a:pt x="0" y="1478765"/>
                  </a:cubicBezTo>
                  <a:lnTo>
                    <a:pt x="0" y="79120"/>
                  </a:lnTo>
                  <a:cubicBezTo>
                    <a:pt x="0" y="58136"/>
                    <a:pt x="8336" y="38011"/>
                    <a:pt x="23174" y="23174"/>
                  </a:cubicBezTo>
                  <a:cubicBezTo>
                    <a:pt x="38011" y="8336"/>
                    <a:pt x="58136" y="0"/>
                    <a:pt x="79120" y="0"/>
                  </a:cubicBezTo>
                  <a:close/>
                </a:path>
              </a:pathLst>
            </a:custGeom>
            <a:solidFill>
              <a:srgbClr val="0097B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9525"/>
              <a:ext cx="1557885" cy="15483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4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4888293">
            <a:off x="257901" y="8307067"/>
            <a:ext cx="2024264" cy="2264911"/>
          </a:xfrm>
          <a:custGeom>
            <a:avLst/>
            <a:gdLst/>
            <a:ahLst/>
            <a:cxnLst/>
            <a:rect r="r" b="b" t="t" l="l"/>
            <a:pathLst>
              <a:path h="2264911" w="2024264">
                <a:moveTo>
                  <a:pt x="0" y="0"/>
                </a:moveTo>
                <a:lnTo>
                  <a:pt x="2024264" y="0"/>
                </a:lnTo>
                <a:lnTo>
                  <a:pt x="2024264" y="2264911"/>
                </a:lnTo>
                <a:lnTo>
                  <a:pt x="0" y="22649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2" id="12"/>
          <p:cNvSpPr/>
          <p:nvPr/>
        </p:nvSpPr>
        <p:spPr>
          <a:xfrm flipH="false" flipV="false" rot="0">
            <a:off x="9443946" y="1591086"/>
            <a:ext cx="951719" cy="907702"/>
          </a:xfrm>
          <a:custGeom>
            <a:avLst/>
            <a:gdLst/>
            <a:ahLst/>
            <a:cxnLst/>
            <a:rect r="r" b="b" t="t" l="l"/>
            <a:pathLst>
              <a:path h="907702" w="951719">
                <a:moveTo>
                  <a:pt x="0" y="0"/>
                </a:moveTo>
                <a:lnTo>
                  <a:pt x="951718" y="0"/>
                </a:lnTo>
                <a:lnTo>
                  <a:pt x="951718" y="907701"/>
                </a:lnTo>
                <a:lnTo>
                  <a:pt x="0" y="90770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9443946" y="2833591"/>
            <a:ext cx="951719" cy="907702"/>
          </a:xfrm>
          <a:custGeom>
            <a:avLst/>
            <a:gdLst/>
            <a:ahLst/>
            <a:cxnLst/>
            <a:rect r="r" b="b" t="t" l="l"/>
            <a:pathLst>
              <a:path h="907702" w="951719">
                <a:moveTo>
                  <a:pt x="0" y="0"/>
                </a:moveTo>
                <a:lnTo>
                  <a:pt x="951718" y="0"/>
                </a:lnTo>
                <a:lnTo>
                  <a:pt x="951718" y="907702"/>
                </a:lnTo>
                <a:lnTo>
                  <a:pt x="0" y="9077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9443946" y="4076097"/>
            <a:ext cx="951719" cy="907702"/>
          </a:xfrm>
          <a:custGeom>
            <a:avLst/>
            <a:gdLst/>
            <a:ahLst/>
            <a:cxnLst/>
            <a:rect r="r" b="b" t="t" l="l"/>
            <a:pathLst>
              <a:path h="907702" w="951719">
                <a:moveTo>
                  <a:pt x="0" y="0"/>
                </a:moveTo>
                <a:lnTo>
                  <a:pt x="951718" y="0"/>
                </a:lnTo>
                <a:lnTo>
                  <a:pt x="951718" y="907702"/>
                </a:lnTo>
                <a:lnTo>
                  <a:pt x="0" y="90770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5" id="15"/>
          <p:cNvSpPr/>
          <p:nvPr/>
        </p:nvSpPr>
        <p:spPr>
          <a:xfrm flipH="false" flipV="false" rot="-6031189">
            <a:off x="14770619" y="855141"/>
            <a:ext cx="4093981" cy="3009076"/>
          </a:xfrm>
          <a:custGeom>
            <a:avLst/>
            <a:gdLst/>
            <a:ahLst/>
            <a:cxnLst/>
            <a:rect r="r" b="b" t="t" l="l"/>
            <a:pathLst>
              <a:path h="3009076" w="4093981">
                <a:moveTo>
                  <a:pt x="0" y="0"/>
                </a:moveTo>
                <a:lnTo>
                  <a:pt x="4093982" y="0"/>
                </a:lnTo>
                <a:lnTo>
                  <a:pt x="4093982" y="3009077"/>
                </a:lnTo>
                <a:lnTo>
                  <a:pt x="0" y="300907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6" id="16"/>
          <p:cNvSpPr/>
          <p:nvPr/>
        </p:nvSpPr>
        <p:spPr>
          <a:xfrm flipH="true" flipV="false" rot="0">
            <a:off x="1028700" y="1709047"/>
            <a:ext cx="934644" cy="1374476"/>
          </a:xfrm>
          <a:custGeom>
            <a:avLst/>
            <a:gdLst/>
            <a:ahLst/>
            <a:cxnLst/>
            <a:rect r="r" b="b" t="t" l="l"/>
            <a:pathLst>
              <a:path h="1374476" w="934644">
                <a:moveTo>
                  <a:pt x="934644" y="0"/>
                </a:moveTo>
                <a:lnTo>
                  <a:pt x="0" y="0"/>
                </a:lnTo>
                <a:lnTo>
                  <a:pt x="0" y="1374476"/>
                </a:lnTo>
                <a:lnTo>
                  <a:pt x="934644" y="1374476"/>
                </a:lnTo>
                <a:lnTo>
                  <a:pt x="934644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1291792">
            <a:off x="16022214" y="7470653"/>
            <a:ext cx="2489416" cy="2349386"/>
          </a:xfrm>
          <a:custGeom>
            <a:avLst/>
            <a:gdLst/>
            <a:ahLst/>
            <a:cxnLst/>
            <a:rect r="r" b="b" t="t" l="l"/>
            <a:pathLst>
              <a:path h="2349386" w="2489416">
                <a:moveTo>
                  <a:pt x="0" y="0"/>
                </a:moveTo>
                <a:lnTo>
                  <a:pt x="2489416" y="0"/>
                </a:lnTo>
                <a:lnTo>
                  <a:pt x="2489416" y="2349386"/>
                </a:lnTo>
                <a:lnTo>
                  <a:pt x="0" y="2349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1218576">
            <a:off x="-13077" y="5930825"/>
            <a:ext cx="1552724" cy="1475088"/>
          </a:xfrm>
          <a:custGeom>
            <a:avLst/>
            <a:gdLst/>
            <a:ahLst/>
            <a:cxnLst/>
            <a:rect r="r" b="b" t="t" l="l"/>
            <a:pathLst>
              <a:path h="1475088" w="1552724">
                <a:moveTo>
                  <a:pt x="0" y="0"/>
                </a:moveTo>
                <a:lnTo>
                  <a:pt x="1552724" y="0"/>
                </a:lnTo>
                <a:lnTo>
                  <a:pt x="1552724" y="1475088"/>
                </a:lnTo>
                <a:lnTo>
                  <a:pt x="0" y="147508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963344" y="634361"/>
            <a:ext cx="13585863" cy="14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6"/>
              </a:lnSpc>
            </a:pPr>
            <a:r>
              <a:rPr lang="en-US" b="true" sz="6625" spc="-132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PROJECT INTRODUCTION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47378" y="3363642"/>
            <a:ext cx="14419415" cy="157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34"/>
              </a:lnSpc>
              <a:spcBef>
                <a:spcPct val="0"/>
              </a:spcBef>
            </a:pPr>
            <a:r>
              <a:rPr lang="en-US" sz="359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A SPECIALIZED FULL-STACK P</a:t>
            </a:r>
            <a:r>
              <a:rPr lang="en-US" sz="3595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UBLISHING PLATFORM FOR THE IT COMMUNITY — NOT A GENERIC BLOG. IT'S WHERE TECHNICAL DOCUMENTATION MEETS PROFESSIONAL NETWORKING.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47887" y="2111611"/>
            <a:ext cx="6901740" cy="1129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89"/>
              </a:lnSpc>
              <a:spcBef>
                <a:spcPct val="0"/>
              </a:spcBef>
            </a:pPr>
            <a:r>
              <a:rPr lang="en-US" sz="7899" spc="-157">
                <a:solidFill>
                  <a:srgbClr val="FFF7EF"/>
                </a:solidFill>
                <a:latin typeface="Archivo Black"/>
                <a:ea typeface="Archivo Black"/>
                <a:cs typeface="Archivo Black"/>
                <a:sym typeface="Archivo Black"/>
              </a:rPr>
              <a:t>NEXUS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783455" y="2101264"/>
            <a:ext cx="5393739" cy="1186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8689"/>
              </a:lnSpc>
              <a:spcBef>
                <a:spcPct val="0"/>
              </a:spcBef>
            </a:pPr>
            <a:r>
              <a:rPr lang="en-US" sz="7899" spc="-157">
                <a:solidFill>
                  <a:srgbClr val="FFF7EF"/>
                </a:solidFill>
                <a:latin typeface="Adlery Pro"/>
                <a:ea typeface="Adlery Pro"/>
                <a:cs typeface="Adlery Pro"/>
                <a:sym typeface="Adlery Pro"/>
              </a:rPr>
              <a:t>Writes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17152" y="6887444"/>
            <a:ext cx="13460814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16"/>
              </a:lnSpc>
            </a:pPr>
            <a:r>
              <a:rPr lang="en-US" sz="3764" spc="-12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Students and tech professionals lack a centralized, structured space to archive laboratory activities, share verified technical expertise, and connect with peers — NEXUSWrites fills that gap.</a:t>
            </a:r>
          </a:p>
          <a:p>
            <a:pPr algn="just">
              <a:lnSpc>
                <a:spcPts val="4516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4717923" y="5482854"/>
            <a:ext cx="8459271" cy="1185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74"/>
              </a:lnSpc>
              <a:spcBef>
                <a:spcPct val="0"/>
              </a:spcBef>
            </a:pPr>
            <a:r>
              <a:rPr lang="en-US" b="true" sz="5195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THE PROBLEM IT SOLVES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692" y="5408956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52400" y="8566226"/>
            <a:ext cx="18288000" cy="5758833"/>
            <a:chOff x="0" y="0"/>
            <a:chExt cx="4816593" cy="151673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1516730"/>
            </a:xfrm>
            <a:custGeom>
              <a:avLst/>
              <a:gdLst/>
              <a:ahLst/>
              <a:cxnLst/>
              <a:rect r="r" b="b" t="t" l="l"/>
              <a:pathLst>
                <a:path h="1516730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1516730"/>
                  </a:lnTo>
                  <a:lnTo>
                    <a:pt x="0" y="1516730"/>
                  </a:lnTo>
                  <a:close/>
                </a:path>
              </a:pathLst>
            </a:custGeom>
            <a:gradFill rotWithShape="true">
              <a:gsLst>
                <a:gs pos="0">
                  <a:srgbClr val="83C9D0">
                    <a:alpha val="100000"/>
                  </a:srgbClr>
                </a:gs>
                <a:gs pos="100000">
                  <a:srgbClr val="83C9D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816593" cy="1507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-82131" y="8459455"/>
            <a:ext cx="2719472" cy="1597690"/>
          </a:xfrm>
          <a:custGeom>
            <a:avLst/>
            <a:gdLst/>
            <a:ahLst/>
            <a:cxnLst/>
            <a:rect r="r" b="b" t="t" l="l"/>
            <a:pathLst>
              <a:path h="1597690" w="2719472">
                <a:moveTo>
                  <a:pt x="0" y="0"/>
                </a:moveTo>
                <a:lnTo>
                  <a:pt x="2719473" y="0"/>
                </a:lnTo>
                <a:lnTo>
                  <a:pt x="2719473" y="1597690"/>
                </a:lnTo>
                <a:lnTo>
                  <a:pt x="0" y="1597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true" flipV="false" rot="0">
            <a:off x="14802147" y="6157924"/>
            <a:ext cx="4045947" cy="4816603"/>
          </a:xfrm>
          <a:custGeom>
            <a:avLst/>
            <a:gdLst/>
            <a:ahLst/>
            <a:cxnLst/>
            <a:rect r="r" b="b" t="t" l="l"/>
            <a:pathLst>
              <a:path h="4816603" w="4045947">
                <a:moveTo>
                  <a:pt x="4045946" y="0"/>
                </a:moveTo>
                <a:lnTo>
                  <a:pt x="0" y="0"/>
                </a:lnTo>
                <a:lnTo>
                  <a:pt x="0" y="4816603"/>
                </a:lnTo>
                <a:lnTo>
                  <a:pt x="4045946" y="4816603"/>
                </a:lnTo>
                <a:lnTo>
                  <a:pt x="404594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4381" y="-1591296"/>
            <a:ext cx="1306449" cy="4114800"/>
          </a:xfrm>
          <a:custGeom>
            <a:avLst/>
            <a:gdLst/>
            <a:ahLst/>
            <a:cxnLst/>
            <a:rect r="r" b="b" t="t" l="l"/>
            <a:pathLst>
              <a:path h="4114800" w="1306449">
                <a:moveTo>
                  <a:pt x="0" y="0"/>
                </a:moveTo>
                <a:lnTo>
                  <a:pt x="1306449" y="0"/>
                </a:lnTo>
                <a:lnTo>
                  <a:pt x="130644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1291792">
            <a:off x="16014429" y="1667685"/>
            <a:ext cx="2489416" cy="2349386"/>
          </a:xfrm>
          <a:custGeom>
            <a:avLst/>
            <a:gdLst/>
            <a:ahLst/>
            <a:cxnLst/>
            <a:rect r="r" b="b" t="t" l="l"/>
            <a:pathLst>
              <a:path h="2349386" w="2489416">
                <a:moveTo>
                  <a:pt x="0" y="0"/>
                </a:moveTo>
                <a:lnTo>
                  <a:pt x="2489416" y="0"/>
                </a:lnTo>
                <a:lnTo>
                  <a:pt x="2489416" y="2349386"/>
                </a:lnTo>
                <a:lnTo>
                  <a:pt x="0" y="2349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727216" y="3761807"/>
            <a:ext cx="2703193" cy="2415979"/>
          </a:xfrm>
          <a:custGeom>
            <a:avLst/>
            <a:gdLst/>
            <a:ahLst/>
            <a:cxnLst/>
            <a:rect r="r" b="b" t="t" l="l"/>
            <a:pathLst>
              <a:path h="2415979" w="2703193">
                <a:moveTo>
                  <a:pt x="0" y="0"/>
                </a:moveTo>
                <a:lnTo>
                  <a:pt x="2703194" y="0"/>
                </a:lnTo>
                <a:lnTo>
                  <a:pt x="2703194" y="2415979"/>
                </a:lnTo>
                <a:lnTo>
                  <a:pt x="0" y="24159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3" id="13"/>
          <p:cNvSpPr txBox="true"/>
          <p:nvPr/>
        </p:nvSpPr>
        <p:spPr>
          <a:xfrm rot="0">
            <a:off x="4250249" y="1666928"/>
            <a:ext cx="10937292" cy="8565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36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-4888293">
            <a:off x="410301" y="7985661"/>
            <a:ext cx="2024264" cy="2264911"/>
          </a:xfrm>
          <a:custGeom>
            <a:avLst/>
            <a:gdLst/>
            <a:ahLst/>
            <a:cxnLst/>
            <a:rect r="r" b="b" t="t" l="l"/>
            <a:pathLst>
              <a:path h="2264911" w="2024264">
                <a:moveTo>
                  <a:pt x="0" y="0"/>
                </a:moveTo>
                <a:lnTo>
                  <a:pt x="2024264" y="0"/>
                </a:lnTo>
                <a:lnTo>
                  <a:pt x="2024264" y="2264911"/>
                </a:lnTo>
                <a:lnTo>
                  <a:pt x="0" y="226491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5" id="15"/>
          <p:cNvSpPr txBox="true"/>
          <p:nvPr/>
        </p:nvSpPr>
        <p:spPr>
          <a:xfrm rot="0">
            <a:off x="2413593" y="1466282"/>
            <a:ext cx="13460814" cy="458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6"/>
              </a:lnSpc>
            </a:pPr>
            <a:r>
              <a:rPr lang="en-US" sz="3764" i="true" spc="-12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Frontend:</a:t>
            </a:r>
          </a:p>
          <a:p>
            <a:pPr algn="l" marL="812676" indent="-406338" lvl="1">
              <a:lnSpc>
                <a:spcPts val="4516"/>
              </a:lnSpc>
              <a:buFont typeface="Arial"/>
              <a:buChar char="•"/>
            </a:pPr>
            <a:r>
              <a:rPr lang="en-US" sz="3764" spc="-12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HTML5, CSS3, Bootstrap 5.3</a:t>
            </a:r>
          </a:p>
          <a:p>
            <a:pPr algn="l" marL="812676" indent="-406338" lvl="1">
              <a:lnSpc>
                <a:spcPts val="4516"/>
              </a:lnSpc>
              <a:buFont typeface="Arial"/>
              <a:buChar char="•"/>
            </a:pPr>
            <a:r>
              <a:rPr lang="en-US" sz="3764" spc="-12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Vanilla JavaScript (modular JS files per page)</a:t>
            </a:r>
          </a:p>
          <a:p>
            <a:pPr algn="l" marL="812676" indent="-406338" lvl="1">
              <a:lnSpc>
                <a:spcPts val="4516"/>
              </a:lnSpc>
              <a:buFont typeface="Arial"/>
              <a:buChar char="•"/>
            </a:pPr>
            <a:r>
              <a:rPr lang="en-US" sz="3764" spc="-12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Font Awesome icons, Google Fonts (Montserrat, Dancing Script, Inter)</a:t>
            </a:r>
          </a:p>
          <a:p>
            <a:pPr algn="l" marL="812676" indent="-406338" lvl="1">
              <a:lnSpc>
                <a:spcPts val="4516"/>
              </a:lnSpc>
              <a:buFont typeface="Arial"/>
              <a:buChar char="•"/>
            </a:pPr>
            <a:r>
              <a:rPr lang="en-US" sz="3764" spc="-12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PWA-ready (manifest.json + service worker sw.js for offline caching)</a:t>
            </a:r>
          </a:p>
          <a:p>
            <a:pPr algn="l">
              <a:lnSpc>
                <a:spcPts val="4516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2413593" y="6157924"/>
            <a:ext cx="13460814" cy="3448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6"/>
              </a:lnSpc>
            </a:pPr>
            <a:r>
              <a:rPr lang="en-US" sz="3864" i="true" spc="-123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Backend:</a:t>
            </a:r>
          </a:p>
          <a:p>
            <a:pPr algn="l" marL="834265" indent="-417133" lvl="1">
              <a:lnSpc>
                <a:spcPts val="4636"/>
              </a:lnSpc>
              <a:buFont typeface="Arial"/>
              <a:buChar char="•"/>
            </a:pPr>
            <a:r>
              <a:rPr lang="en-US" sz="3864" spc="-123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Node.js + Express.js (v5)</a:t>
            </a:r>
          </a:p>
          <a:p>
            <a:pPr algn="l" marL="834265" indent="-417133" lvl="1">
              <a:lnSpc>
                <a:spcPts val="4636"/>
              </a:lnSpc>
              <a:buFont typeface="Arial"/>
              <a:buChar char="•"/>
            </a:pPr>
            <a:r>
              <a:rPr lang="en-US" sz="3864" spc="-123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MongoDB + Mongoose ODM (hosted on Atlas, dbName: test)</a:t>
            </a:r>
          </a:p>
          <a:p>
            <a:pPr algn="l" marL="834265" indent="-417133" lvl="1">
              <a:lnSpc>
                <a:spcPts val="4636"/>
              </a:lnSpc>
              <a:buFont typeface="Arial"/>
              <a:buChar char="•"/>
            </a:pPr>
            <a:r>
              <a:rPr lang="en-US" sz="3864" spc="-123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JWT (jsonwebtoken) for session authentication</a:t>
            </a:r>
          </a:p>
          <a:p>
            <a:pPr algn="l" marL="834265" indent="-417133" lvl="1">
              <a:lnSpc>
                <a:spcPts val="4636"/>
              </a:lnSpc>
              <a:buFont typeface="Arial"/>
              <a:buChar char="•"/>
            </a:pPr>
            <a:r>
              <a:rPr lang="en-US" sz="3864" spc="-123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Bcrypt.js for password hashing</a:t>
            </a:r>
          </a:p>
          <a:p>
            <a:pPr algn="l">
              <a:lnSpc>
                <a:spcPts val="4276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4407819" y="18429"/>
            <a:ext cx="9971570" cy="1457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6"/>
              </a:lnSpc>
            </a:pPr>
            <a:r>
              <a:rPr lang="en-US" b="true" sz="6625" spc="-132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TECHNOLOGY STACK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153957" y="8323775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0" y="8545137"/>
            <a:ext cx="18288000" cy="3163326"/>
            <a:chOff x="0" y="0"/>
            <a:chExt cx="4816593" cy="83313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833139"/>
            </a:xfrm>
            <a:custGeom>
              <a:avLst/>
              <a:gdLst/>
              <a:ahLst/>
              <a:cxnLst/>
              <a:rect r="r" b="b" t="t" l="l"/>
              <a:pathLst>
                <a:path h="8331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833139"/>
                  </a:lnTo>
                  <a:lnTo>
                    <a:pt x="0" y="833139"/>
                  </a:lnTo>
                  <a:close/>
                </a:path>
              </a:pathLst>
            </a:custGeom>
            <a:gradFill rotWithShape="true">
              <a:gsLst>
                <a:gs pos="0">
                  <a:srgbClr val="83C9D0">
                    <a:alpha val="100000"/>
                  </a:srgbClr>
                </a:gs>
                <a:gs pos="100000">
                  <a:srgbClr val="83C9D0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9525"/>
              <a:ext cx="4816593" cy="823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84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761074">
            <a:off x="14296782" y="6867667"/>
            <a:ext cx="5870934" cy="4814165"/>
          </a:xfrm>
          <a:custGeom>
            <a:avLst/>
            <a:gdLst/>
            <a:ahLst/>
            <a:cxnLst/>
            <a:rect r="r" b="b" t="t" l="l"/>
            <a:pathLst>
              <a:path h="4814165" w="5870934">
                <a:moveTo>
                  <a:pt x="5870934" y="0"/>
                </a:moveTo>
                <a:lnTo>
                  <a:pt x="0" y="0"/>
                </a:lnTo>
                <a:lnTo>
                  <a:pt x="0" y="4814166"/>
                </a:lnTo>
                <a:lnTo>
                  <a:pt x="5870934" y="4814166"/>
                </a:lnTo>
                <a:lnTo>
                  <a:pt x="587093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0" y="8689310"/>
            <a:ext cx="2719472" cy="1597690"/>
          </a:xfrm>
          <a:custGeom>
            <a:avLst/>
            <a:gdLst/>
            <a:ahLst/>
            <a:cxnLst/>
            <a:rect r="r" b="b" t="t" l="l"/>
            <a:pathLst>
              <a:path h="1597690" w="2719472">
                <a:moveTo>
                  <a:pt x="0" y="0"/>
                </a:moveTo>
                <a:lnTo>
                  <a:pt x="2719472" y="0"/>
                </a:lnTo>
                <a:lnTo>
                  <a:pt x="2719472" y="1597690"/>
                </a:lnTo>
                <a:lnTo>
                  <a:pt x="0" y="159769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872611">
            <a:off x="470396" y="8130805"/>
            <a:ext cx="1005234" cy="1714684"/>
          </a:xfrm>
          <a:custGeom>
            <a:avLst/>
            <a:gdLst/>
            <a:ahLst/>
            <a:cxnLst/>
            <a:rect r="r" b="b" t="t" l="l"/>
            <a:pathLst>
              <a:path h="1714684" w="1005234">
                <a:moveTo>
                  <a:pt x="0" y="0"/>
                </a:moveTo>
                <a:lnTo>
                  <a:pt x="1005234" y="0"/>
                </a:lnTo>
                <a:lnTo>
                  <a:pt x="1005234" y="1714684"/>
                </a:lnTo>
                <a:lnTo>
                  <a:pt x="0" y="17146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635862">
            <a:off x="16168222" y="4390162"/>
            <a:ext cx="2182157" cy="2037589"/>
          </a:xfrm>
          <a:custGeom>
            <a:avLst/>
            <a:gdLst/>
            <a:ahLst/>
            <a:cxnLst/>
            <a:rect r="r" b="b" t="t" l="l"/>
            <a:pathLst>
              <a:path h="2037589" w="2182157">
                <a:moveTo>
                  <a:pt x="0" y="0"/>
                </a:moveTo>
                <a:lnTo>
                  <a:pt x="2182156" y="0"/>
                </a:lnTo>
                <a:lnTo>
                  <a:pt x="2182156" y="2037589"/>
                </a:lnTo>
                <a:lnTo>
                  <a:pt x="0" y="203758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888293">
            <a:off x="16568" y="898498"/>
            <a:ext cx="2024264" cy="2264911"/>
          </a:xfrm>
          <a:custGeom>
            <a:avLst/>
            <a:gdLst/>
            <a:ahLst/>
            <a:cxnLst/>
            <a:rect r="r" b="b" t="t" l="l"/>
            <a:pathLst>
              <a:path h="2264911" w="2024264">
                <a:moveTo>
                  <a:pt x="0" y="0"/>
                </a:moveTo>
                <a:lnTo>
                  <a:pt x="2024264" y="0"/>
                </a:lnTo>
                <a:lnTo>
                  <a:pt x="2024264" y="2264911"/>
                </a:lnTo>
                <a:lnTo>
                  <a:pt x="0" y="2264911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3" id="13"/>
          <p:cNvSpPr/>
          <p:nvPr/>
        </p:nvSpPr>
        <p:spPr>
          <a:xfrm flipH="false" flipV="false" rot="633249">
            <a:off x="-955562" y="3935510"/>
            <a:ext cx="2703193" cy="2415979"/>
          </a:xfrm>
          <a:custGeom>
            <a:avLst/>
            <a:gdLst/>
            <a:ahLst/>
            <a:cxnLst/>
            <a:rect r="r" b="b" t="t" l="l"/>
            <a:pathLst>
              <a:path h="2415979" w="2703193">
                <a:moveTo>
                  <a:pt x="0" y="0"/>
                </a:moveTo>
                <a:lnTo>
                  <a:pt x="2703193" y="0"/>
                </a:lnTo>
                <a:lnTo>
                  <a:pt x="2703193" y="2415980"/>
                </a:lnTo>
                <a:lnTo>
                  <a:pt x="0" y="241598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14" id="14"/>
          <p:cNvSpPr/>
          <p:nvPr/>
        </p:nvSpPr>
        <p:spPr>
          <a:xfrm flipH="false" flipV="false" rot="-2476094">
            <a:off x="15603376" y="135352"/>
            <a:ext cx="2489416" cy="2349386"/>
          </a:xfrm>
          <a:custGeom>
            <a:avLst/>
            <a:gdLst/>
            <a:ahLst/>
            <a:cxnLst/>
            <a:rect r="r" b="b" t="t" l="l"/>
            <a:pathLst>
              <a:path h="2349386" w="2489416">
                <a:moveTo>
                  <a:pt x="0" y="0"/>
                </a:moveTo>
                <a:lnTo>
                  <a:pt x="2489415" y="0"/>
                </a:lnTo>
                <a:lnTo>
                  <a:pt x="2489415" y="2349387"/>
                </a:lnTo>
                <a:lnTo>
                  <a:pt x="0" y="234938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230374" y="1439487"/>
            <a:ext cx="13460814" cy="6600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756"/>
              </a:lnSpc>
            </a:pPr>
            <a:r>
              <a:rPr lang="en-US" sz="3964" i="true" spc="-126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Cloud &amp; Media:</a:t>
            </a:r>
          </a:p>
          <a:p>
            <a:pPr algn="just" marL="855855" indent="-427927" lvl="1">
              <a:lnSpc>
                <a:spcPts val="4756"/>
              </a:lnSpc>
              <a:buFont typeface="Arial"/>
              <a:buChar char="•"/>
            </a:pPr>
            <a:r>
              <a:rPr lang="en-US" sz="3964" spc="-126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Cloudinary for image hosting (avatars, post images) — only URLs stored in MongoDB</a:t>
            </a:r>
          </a:p>
          <a:p>
            <a:pPr algn="just" marL="855855" indent="-427927" lvl="1">
              <a:lnSpc>
                <a:spcPts val="4756"/>
              </a:lnSpc>
              <a:buFont typeface="Arial"/>
              <a:buChar char="•"/>
            </a:pPr>
            <a:r>
              <a:rPr lang="en-US" sz="3964" spc="-126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Multer + multer-storage-cloudinary for file upload middleware</a:t>
            </a:r>
          </a:p>
          <a:p>
            <a:pPr algn="just">
              <a:lnSpc>
                <a:spcPts val="4756"/>
              </a:lnSpc>
            </a:pPr>
          </a:p>
          <a:p>
            <a:pPr algn="just">
              <a:lnSpc>
                <a:spcPts val="4756"/>
              </a:lnSpc>
            </a:pPr>
            <a:r>
              <a:rPr lang="en-US" sz="3964" i="true" spc="-126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Deployment:</a:t>
            </a:r>
          </a:p>
          <a:p>
            <a:pPr algn="just" marL="855855" indent="-427927" lvl="1">
              <a:lnSpc>
                <a:spcPts val="4756"/>
              </a:lnSpc>
              <a:buFont typeface="Arial"/>
              <a:buChar char="•"/>
            </a:pPr>
            <a:r>
              <a:rPr lang="en-US" sz="3964" spc="-126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Backend hosted on Render (final-project-backend.onrender.com)</a:t>
            </a:r>
          </a:p>
          <a:p>
            <a:pPr algn="just" marL="855855" indent="-427927" lvl="1">
              <a:lnSpc>
                <a:spcPts val="4756"/>
              </a:lnSpc>
              <a:buFont typeface="Arial"/>
              <a:buChar char="•"/>
            </a:pPr>
            <a:r>
              <a:rPr lang="en-US" sz="3964" spc="-126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Frontend served statically via Express from the same server</a:t>
            </a:r>
          </a:p>
          <a:p>
            <a:pPr algn="just">
              <a:lnSpc>
                <a:spcPts val="475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692" y="5408956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0" y="8689310"/>
            <a:ext cx="2719472" cy="1597690"/>
          </a:xfrm>
          <a:custGeom>
            <a:avLst/>
            <a:gdLst/>
            <a:ahLst/>
            <a:cxnLst/>
            <a:rect r="r" b="b" t="t" l="l"/>
            <a:pathLst>
              <a:path h="1597690" w="2719472">
                <a:moveTo>
                  <a:pt x="0" y="0"/>
                </a:moveTo>
                <a:lnTo>
                  <a:pt x="2719472" y="0"/>
                </a:lnTo>
                <a:lnTo>
                  <a:pt x="2719472" y="1597690"/>
                </a:lnTo>
                <a:lnTo>
                  <a:pt x="0" y="1597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396193">
            <a:off x="14700308" y="5891562"/>
            <a:ext cx="3489021" cy="5130913"/>
          </a:xfrm>
          <a:custGeom>
            <a:avLst/>
            <a:gdLst/>
            <a:ahLst/>
            <a:cxnLst/>
            <a:rect r="r" b="b" t="t" l="l"/>
            <a:pathLst>
              <a:path h="5130913" w="3489021">
                <a:moveTo>
                  <a:pt x="3489021" y="0"/>
                </a:moveTo>
                <a:lnTo>
                  <a:pt x="0" y="0"/>
                </a:lnTo>
                <a:lnTo>
                  <a:pt x="0" y="5130913"/>
                </a:lnTo>
                <a:lnTo>
                  <a:pt x="3489021" y="5130913"/>
                </a:lnTo>
                <a:lnTo>
                  <a:pt x="34890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375476" y="-384104"/>
            <a:ext cx="1306449" cy="4114800"/>
          </a:xfrm>
          <a:custGeom>
            <a:avLst/>
            <a:gdLst/>
            <a:ahLst/>
            <a:cxnLst/>
            <a:rect r="r" b="b" t="t" l="l"/>
            <a:pathLst>
              <a:path h="4114800" w="1306449">
                <a:moveTo>
                  <a:pt x="0" y="0"/>
                </a:moveTo>
                <a:lnTo>
                  <a:pt x="1306448" y="0"/>
                </a:lnTo>
                <a:lnTo>
                  <a:pt x="13064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1291792">
            <a:off x="16014429" y="1667685"/>
            <a:ext cx="2489416" cy="2349386"/>
          </a:xfrm>
          <a:custGeom>
            <a:avLst/>
            <a:gdLst/>
            <a:ahLst/>
            <a:cxnLst/>
            <a:rect r="r" b="b" t="t" l="l"/>
            <a:pathLst>
              <a:path h="2349386" w="2489416">
                <a:moveTo>
                  <a:pt x="0" y="0"/>
                </a:moveTo>
                <a:lnTo>
                  <a:pt x="2489416" y="0"/>
                </a:lnTo>
                <a:lnTo>
                  <a:pt x="2489416" y="2349386"/>
                </a:lnTo>
                <a:lnTo>
                  <a:pt x="0" y="23493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-618323" y="7627157"/>
            <a:ext cx="2703193" cy="2415979"/>
          </a:xfrm>
          <a:custGeom>
            <a:avLst/>
            <a:gdLst/>
            <a:ahLst/>
            <a:cxnLst/>
            <a:rect r="r" b="b" t="t" l="l"/>
            <a:pathLst>
              <a:path h="2415979" w="2703193">
                <a:moveTo>
                  <a:pt x="0" y="0"/>
                </a:moveTo>
                <a:lnTo>
                  <a:pt x="2703194" y="0"/>
                </a:lnTo>
                <a:lnTo>
                  <a:pt x="2703194" y="2415979"/>
                </a:lnTo>
                <a:lnTo>
                  <a:pt x="0" y="241597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4833516" y="279025"/>
            <a:ext cx="8620967" cy="234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6"/>
              </a:lnSpc>
            </a:pPr>
            <a:r>
              <a:rPr lang="en-US" b="true" sz="6625" spc="-132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SYSTEM FEATURES OVERVIEW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13593" y="3060035"/>
            <a:ext cx="13460814" cy="682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36"/>
              </a:lnSpc>
            </a:pPr>
            <a:r>
              <a:rPr lang="en-US" sz="4364" spc="-139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Feature 1 — Age-Gated Secure Authentication</a:t>
            </a:r>
          </a:p>
          <a:p>
            <a:pPr algn="l">
              <a:lnSpc>
                <a:spcPts val="4396"/>
              </a:lnSpc>
            </a:pPr>
          </a:p>
          <a:p>
            <a:pPr algn="l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Two-page registration form: identity first, then profile setup</a:t>
            </a:r>
          </a:p>
          <a:p>
            <a:pPr algn="just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Server-side age calculation — must be 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18+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to register (enforced in both authController.js and userController.js)</a:t>
            </a:r>
          </a:p>
          <a:p>
            <a:pPr algn="l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Passwords hashed with 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Bcrypt.js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via a pre-save hook in User.js</a:t>
            </a:r>
          </a:p>
          <a:p>
            <a:pPr algn="l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Sessions managed with 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JWT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(1-day expiry), stored in localStorage</a:t>
            </a:r>
          </a:p>
          <a:p>
            <a:pPr algn="l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Login errors shown via a custom Bootstrap modal, not browser alerts</a:t>
            </a:r>
          </a:p>
          <a:p>
            <a:pPr algn="l">
              <a:lnSpc>
                <a:spcPts val="4396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6683419" y="5143500"/>
            <a:ext cx="12654460" cy="12654460"/>
          </a:xfrm>
          <a:custGeom>
            <a:avLst/>
            <a:gdLst/>
            <a:ahLst/>
            <a:cxnLst/>
            <a:rect r="r" b="b" t="t" l="l"/>
            <a:pathLst>
              <a:path h="12654460" w="12654460">
                <a:moveTo>
                  <a:pt x="0" y="0"/>
                </a:moveTo>
                <a:lnTo>
                  <a:pt x="12654460" y="0"/>
                </a:lnTo>
                <a:lnTo>
                  <a:pt x="12654460" y="12654460"/>
                </a:lnTo>
                <a:lnTo>
                  <a:pt x="0" y="1265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3010649" y="5791731"/>
            <a:ext cx="5921274" cy="4959067"/>
          </a:xfrm>
          <a:custGeom>
            <a:avLst/>
            <a:gdLst/>
            <a:ahLst/>
            <a:cxnLst/>
            <a:rect r="r" b="b" t="t" l="l"/>
            <a:pathLst>
              <a:path h="4959067" w="5921274">
                <a:moveTo>
                  <a:pt x="0" y="0"/>
                </a:moveTo>
                <a:lnTo>
                  <a:pt x="5921274" y="0"/>
                </a:lnTo>
                <a:lnTo>
                  <a:pt x="5921274" y="4959067"/>
                </a:lnTo>
                <a:lnTo>
                  <a:pt x="0" y="495906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-402073" y="5143500"/>
            <a:ext cx="12654460" cy="12654460"/>
          </a:xfrm>
          <a:custGeom>
            <a:avLst/>
            <a:gdLst/>
            <a:ahLst/>
            <a:cxnLst/>
            <a:rect r="r" b="b" t="t" l="l"/>
            <a:pathLst>
              <a:path h="12654460" w="12654460">
                <a:moveTo>
                  <a:pt x="0" y="0"/>
                </a:moveTo>
                <a:lnTo>
                  <a:pt x="12654460" y="0"/>
                </a:lnTo>
                <a:lnTo>
                  <a:pt x="12654460" y="12654460"/>
                </a:lnTo>
                <a:lnTo>
                  <a:pt x="0" y="126544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16362672" y="3165549"/>
            <a:ext cx="1386352" cy="2218163"/>
          </a:xfrm>
          <a:custGeom>
            <a:avLst/>
            <a:gdLst/>
            <a:ahLst/>
            <a:cxnLst/>
            <a:rect r="r" b="b" t="t" l="l"/>
            <a:pathLst>
              <a:path h="2218163" w="1386352">
                <a:moveTo>
                  <a:pt x="0" y="0"/>
                </a:moveTo>
                <a:lnTo>
                  <a:pt x="1386352" y="0"/>
                </a:lnTo>
                <a:lnTo>
                  <a:pt x="1386352" y="2218163"/>
                </a:lnTo>
                <a:lnTo>
                  <a:pt x="0" y="22181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504761">
            <a:off x="418011" y="7734068"/>
            <a:ext cx="1582524" cy="2327242"/>
          </a:xfrm>
          <a:custGeom>
            <a:avLst/>
            <a:gdLst/>
            <a:ahLst/>
            <a:cxnLst/>
            <a:rect r="r" b="b" t="t" l="l"/>
            <a:pathLst>
              <a:path h="2327242" w="1582524">
                <a:moveTo>
                  <a:pt x="0" y="0"/>
                </a:moveTo>
                <a:lnTo>
                  <a:pt x="1582524" y="0"/>
                </a:lnTo>
                <a:lnTo>
                  <a:pt x="1582524" y="2327242"/>
                </a:lnTo>
                <a:lnTo>
                  <a:pt x="0" y="23272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2112371" y="1185031"/>
            <a:ext cx="13460814" cy="813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6"/>
              </a:lnSpc>
            </a:pPr>
            <a:r>
              <a:rPr lang="en-US" sz="4064" spc="-13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Feature 2 — Tech-Centric CRUD with Cloud Media</a:t>
            </a:r>
          </a:p>
          <a:p>
            <a:pPr algn="l">
              <a:lnSpc>
                <a:spcPts val="4876"/>
              </a:lnSpc>
            </a:pPr>
          </a:p>
          <a:p>
            <a:pPr algn="l" marL="791086" indent="-395543" lvl="1">
              <a:lnSpc>
                <a:spcPts val="560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Dashboard (dashboard.html) lets users create, edit, and delete tutorials</a:t>
            </a:r>
          </a:p>
          <a:p>
            <a:pPr algn="l" marL="791086" indent="-395543" lvl="1">
              <a:lnSpc>
                <a:spcPts val="560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Post fields: Title, Category (10 predefined + custom), Content, Tags, and an optional Image</a:t>
            </a:r>
          </a:p>
          <a:p>
            <a:pPr algn="l" marL="791086" indent="-395543" lvl="1">
              <a:lnSpc>
                <a:spcPts val="560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Images uploaded to 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Cloudinary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via Multer middleware; only the URL string is saved in MongoDB</a:t>
            </a:r>
          </a:p>
          <a:p>
            <a:pPr algn="l" marL="791086" indent="-395543" lvl="1">
              <a:lnSpc>
                <a:spcPts val="560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Posts support 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Likes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(toggle, stored as an array of User ObjectIds in Post.js)</a:t>
            </a:r>
          </a:p>
          <a:p>
            <a:pPr algn="l" marL="791086" indent="-395543" lvl="1">
              <a:lnSpc>
                <a:spcPts val="560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"Load More" pagination on the feed</a:t>
            </a:r>
          </a:p>
          <a:p>
            <a:pPr algn="l">
              <a:lnSpc>
                <a:spcPts val="4396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75476" y="-431628"/>
            <a:ext cx="1306449" cy="4114800"/>
          </a:xfrm>
          <a:custGeom>
            <a:avLst/>
            <a:gdLst/>
            <a:ahLst/>
            <a:cxnLst/>
            <a:rect r="r" b="b" t="t" l="l"/>
            <a:pathLst>
              <a:path h="4114800" w="1306449">
                <a:moveTo>
                  <a:pt x="0" y="0"/>
                </a:moveTo>
                <a:lnTo>
                  <a:pt x="1306448" y="0"/>
                </a:lnTo>
                <a:lnTo>
                  <a:pt x="13064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692" y="5408956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true" flipV="false" rot="0">
            <a:off x="-1034909" y="6566220"/>
            <a:ext cx="5893005" cy="4493416"/>
          </a:xfrm>
          <a:custGeom>
            <a:avLst/>
            <a:gdLst/>
            <a:ahLst/>
            <a:cxnLst/>
            <a:rect r="r" b="b" t="t" l="l"/>
            <a:pathLst>
              <a:path h="4493416" w="5893005">
                <a:moveTo>
                  <a:pt x="5893005" y="0"/>
                </a:moveTo>
                <a:lnTo>
                  <a:pt x="0" y="0"/>
                </a:lnTo>
                <a:lnTo>
                  <a:pt x="0" y="4493416"/>
                </a:lnTo>
                <a:lnTo>
                  <a:pt x="5893005" y="4493416"/>
                </a:lnTo>
                <a:lnTo>
                  <a:pt x="589300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6606076" y="-439551"/>
            <a:ext cx="1306449" cy="4114800"/>
          </a:xfrm>
          <a:custGeom>
            <a:avLst/>
            <a:gdLst/>
            <a:ahLst/>
            <a:cxnLst/>
            <a:rect r="r" b="b" t="t" l="l"/>
            <a:pathLst>
              <a:path h="4114800" w="1306449">
                <a:moveTo>
                  <a:pt x="0" y="0"/>
                </a:moveTo>
                <a:lnTo>
                  <a:pt x="1306448" y="0"/>
                </a:lnTo>
                <a:lnTo>
                  <a:pt x="13064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291792">
            <a:off x="16014429" y="4413909"/>
            <a:ext cx="2489416" cy="2349386"/>
          </a:xfrm>
          <a:custGeom>
            <a:avLst/>
            <a:gdLst/>
            <a:ahLst/>
            <a:cxnLst/>
            <a:rect r="r" b="b" t="t" l="l"/>
            <a:pathLst>
              <a:path h="2349386" w="2489416">
                <a:moveTo>
                  <a:pt x="0" y="0"/>
                </a:moveTo>
                <a:lnTo>
                  <a:pt x="2489416" y="0"/>
                </a:lnTo>
                <a:lnTo>
                  <a:pt x="2489416" y="2349387"/>
                </a:lnTo>
                <a:lnTo>
                  <a:pt x="0" y="234938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483262" y="2153944"/>
            <a:ext cx="2703193" cy="2415979"/>
          </a:xfrm>
          <a:custGeom>
            <a:avLst/>
            <a:gdLst/>
            <a:ahLst/>
            <a:cxnLst/>
            <a:rect r="r" b="b" t="t" l="l"/>
            <a:pathLst>
              <a:path h="2415979" w="2703193">
                <a:moveTo>
                  <a:pt x="0" y="0"/>
                </a:moveTo>
                <a:lnTo>
                  <a:pt x="2703193" y="0"/>
                </a:lnTo>
                <a:lnTo>
                  <a:pt x="2703193" y="2415979"/>
                </a:lnTo>
                <a:lnTo>
                  <a:pt x="0" y="2415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3020506" y="674289"/>
            <a:ext cx="12784994" cy="8138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6"/>
              </a:lnSpc>
            </a:pPr>
            <a:r>
              <a:rPr lang="en-US" sz="4064" spc="-13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Feature 3 — Hierarchical Discussion System (Nested Comments)</a:t>
            </a:r>
          </a:p>
          <a:p>
            <a:pPr algn="l">
              <a:lnSpc>
                <a:spcPts val="4396"/>
              </a:lnSpc>
            </a:pPr>
          </a:p>
          <a:p>
            <a:pPr algn="l" marL="791086" indent="-395543" lvl="1">
              <a:lnSpc>
                <a:spcPts val="5679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Comments are embedded directly inside the Post document (Post.js uses a recursive commentSchema that adds a replies array to itself)</a:t>
            </a:r>
          </a:p>
          <a:p>
            <a:pPr algn="l" marL="791086" indent="-395543" lvl="1">
              <a:lnSpc>
                <a:spcPts val="5679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Supports unlimited nesting depth — the autoPopulateUser middleware populates user names/avatars up to 10 levels deep</a:t>
            </a:r>
          </a:p>
          <a:p>
            <a:pPr algn="l" marL="791086" indent="-395543" lvl="1">
              <a:lnSpc>
                <a:spcPts val="5679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Users can reply to any comment; the UI threads them visually</a:t>
            </a:r>
          </a:p>
          <a:p>
            <a:pPr algn="l">
              <a:lnSpc>
                <a:spcPts val="5679"/>
              </a:lnSpc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Comment/reply actions trigger 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Notifications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to the post or comment author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90078" y="5912592"/>
            <a:ext cx="4897922" cy="5287905"/>
          </a:xfrm>
          <a:custGeom>
            <a:avLst/>
            <a:gdLst/>
            <a:ahLst/>
            <a:cxnLst/>
            <a:rect r="r" b="b" t="t" l="l"/>
            <a:pathLst>
              <a:path h="5287905" w="4897922">
                <a:moveTo>
                  <a:pt x="0" y="0"/>
                </a:moveTo>
                <a:lnTo>
                  <a:pt x="4897922" y="0"/>
                </a:lnTo>
                <a:lnTo>
                  <a:pt x="4897922" y="5287905"/>
                </a:lnTo>
                <a:lnTo>
                  <a:pt x="0" y="52879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1407443">
            <a:off x="16415096" y="3172945"/>
            <a:ext cx="1383484" cy="2359887"/>
          </a:xfrm>
          <a:custGeom>
            <a:avLst/>
            <a:gdLst/>
            <a:ahLst/>
            <a:cxnLst/>
            <a:rect r="r" b="b" t="t" l="l"/>
            <a:pathLst>
              <a:path h="2359887" w="1383484">
                <a:moveTo>
                  <a:pt x="0" y="0"/>
                </a:moveTo>
                <a:lnTo>
                  <a:pt x="1383484" y="0"/>
                </a:lnTo>
                <a:lnTo>
                  <a:pt x="1383484" y="2359887"/>
                </a:lnTo>
                <a:lnTo>
                  <a:pt x="0" y="23598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635862">
            <a:off x="14911489" y="1758866"/>
            <a:ext cx="2182157" cy="2037589"/>
          </a:xfrm>
          <a:custGeom>
            <a:avLst/>
            <a:gdLst/>
            <a:ahLst/>
            <a:cxnLst/>
            <a:rect r="r" b="b" t="t" l="l"/>
            <a:pathLst>
              <a:path h="2037589" w="2182157">
                <a:moveTo>
                  <a:pt x="0" y="0"/>
                </a:moveTo>
                <a:lnTo>
                  <a:pt x="2182157" y="0"/>
                </a:lnTo>
                <a:lnTo>
                  <a:pt x="2182157" y="2037589"/>
                </a:lnTo>
                <a:lnTo>
                  <a:pt x="0" y="203758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35212" y="1421497"/>
            <a:ext cx="13460814" cy="804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6"/>
              </a:lnSpc>
            </a:pPr>
            <a:r>
              <a:rPr lang="en-US" sz="4064" spc="-13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Feature 4 — Live GitHub Portfolio Integration</a:t>
            </a:r>
          </a:p>
          <a:p>
            <a:pPr algn="l">
              <a:lnSpc>
                <a:spcPts val="4396"/>
              </a:lnSpc>
            </a:pPr>
          </a:p>
          <a:p>
            <a:pPr algn="l" marL="791086" indent="-395543" lvl="1">
              <a:lnSpc>
                <a:spcPts val="6229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github.html allows any user to search a GitHub username</a:t>
            </a:r>
          </a:p>
          <a:p>
            <a:pPr algn="l" marL="791086" indent="-395543" lvl="1">
              <a:lnSpc>
                <a:spcPts val="6229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Backend calls the 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GitHub REST API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(/users/:username/repos) via Axios, returning the top 5 most recent public repos (name, description, language, stars, URL)</a:t>
            </a:r>
          </a:p>
          <a:p>
            <a:pPr algn="l" marL="791086" indent="-395543" lvl="1">
              <a:lnSpc>
                <a:spcPts val="6229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"Sync to My Profile" saves the GitHub username to the user's MongoDB document via PUT /api/users/update</a:t>
            </a:r>
          </a:p>
          <a:p>
            <a:pPr algn="l" marL="791086" indent="-395543" lvl="1">
              <a:lnSpc>
                <a:spcPts val="6229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The linked repos then display on the public profile.html as a Technical Portfolio section</a:t>
            </a:r>
          </a:p>
          <a:p>
            <a:pPr algn="l">
              <a:lnSpc>
                <a:spcPts val="4396"/>
              </a:lnSpc>
            </a:pP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375476" y="-481819"/>
            <a:ext cx="1306449" cy="4114800"/>
          </a:xfrm>
          <a:custGeom>
            <a:avLst/>
            <a:gdLst/>
            <a:ahLst/>
            <a:cxnLst/>
            <a:rect r="r" b="b" t="t" l="l"/>
            <a:pathLst>
              <a:path h="4114800" w="1306449">
                <a:moveTo>
                  <a:pt x="0" y="0"/>
                </a:moveTo>
                <a:lnTo>
                  <a:pt x="1306448" y="0"/>
                </a:lnTo>
                <a:lnTo>
                  <a:pt x="13064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5476" y="8459455"/>
            <a:ext cx="2719472" cy="1597690"/>
          </a:xfrm>
          <a:custGeom>
            <a:avLst/>
            <a:gdLst/>
            <a:ahLst/>
            <a:cxnLst/>
            <a:rect r="r" b="b" t="t" l="l"/>
            <a:pathLst>
              <a:path h="1597690" w="2719472">
                <a:moveTo>
                  <a:pt x="0" y="0"/>
                </a:moveTo>
                <a:lnTo>
                  <a:pt x="2719472" y="0"/>
                </a:lnTo>
                <a:lnTo>
                  <a:pt x="2719472" y="1597690"/>
                </a:lnTo>
                <a:lnTo>
                  <a:pt x="0" y="159769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636248">
            <a:off x="1219572" y="8723979"/>
            <a:ext cx="924705" cy="1095946"/>
          </a:xfrm>
          <a:custGeom>
            <a:avLst/>
            <a:gdLst/>
            <a:ahLst/>
            <a:cxnLst/>
            <a:rect r="r" b="b" t="t" l="l"/>
            <a:pathLst>
              <a:path h="1095946" w="924705">
                <a:moveTo>
                  <a:pt x="0" y="0"/>
                </a:moveTo>
                <a:lnTo>
                  <a:pt x="924705" y="0"/>
                </a:lnTo>
                <a:lnTo>
                  <a:pt x="924705" y="1095947"/>
                </a:lnTo>
                <a:lnTo>
                  <a:pt x="0" y="109594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-292631" y="5912592"/>
            <a:ext cx="22640648" cy="12654460"/>
            <a:chOff x="0" y="0"/>
            <a:chExt cx="30187531" cy="16872613"/>
          </a:xfrm>
        </p:grpSpPr>
        <p:sp>
          <p:nvSpPr>
            <p:cNvPr name="Freeform 10" id="10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1" id="11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83692" y="5408956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3943247" y="8459455"/>
            <a:ext cx="2719472" cy="1597690"/>
          </a:xfrm>
          <a:custGeom>
            <a:avLst/>
            <a:gdLst/>
            <a:ahLst/>
            <a:cxnLst/>
            <a:rect r="r" b="b" t="t" l="l"/>
            <a:pathLst>
              <a:path h="1597690" w="2719472">
                <a:moveTo>
                  <a:pt x="0" y="0"/>
                </a:moveTo>
                <a:lnTo>
                  <a:pt x="2719472" y="0"/>
                </a:lnTo>
                <a:lnTo>
                  <a:pt x="2719472" y="1597690"/>
                </a:lnTo>
                <a:lnTo>
                  <a:pt x="0" y="159769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636248">
            <a:off x="14840631" y="8626890"/>
            <a:ext cx="924705" cy="1095946"/>
          </a:xfrm>
          <a:custGeom>
            <a:avLst/>
            <a:gdLst/>
            <a:ahLst/>
            <a:cxnLst/>
            <a:rect r="r" b="b" t="t" l="l"/>
            <a:pathLst>
              <a:path h="1095946" w="924705">
                <a:moveTo>
                  <a:pt x="0" y="0"/>
                </a:moveTo>
                <a:lnTo>
                  <a:pt x="924704" y="0"/>
                </a:lnTo>
                <a:lnTo>
                  <a:pt x="924704" y="1095946"/>
                </a:lnTo>
                <a:lnTo>
                  <a:pt x="0" y="10959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75476" y="-1272422"/>
            <a:ext cx="1306449" cy="4114800"/>
          </a:xfrm>
          <a:custGeom>
            <a:avLst/>
            <a:gdLst/>
            <a:ahLst/>
            <a:cxnLst/>
            <a:rect r="r" b="b" t="t" l="l"/>
            <a:pathLst>
              <a:path h="4114800" w="1306449">
                <a:moveTo>
                  <a:pt x="0" y="0"/>
                </a:moveTo>
                <a:lnTo>
                  <a:pt x="1306448" y="0"/>
                </a:lnTo>
                <a:lnTo>
                  <a:pt x="13064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688890" y="7203531"/>
            <a:ext cx="4741628" cy="4380079"/>
          </a:xfrm>
          <a:custGeom>
            <a:avLst/>
            <a:gdLst/>
            <a:ahLst/>
            <a:cxnLst/>
            <a:rect r="r" b="b" t="t" l="l"/>
            <a:pathLst>
              <a:path h="4380079" w="4741628">
                <a:moveTo>
                  <a:pt x="0" y="0"/>
                </a:moveTo>
                <a:lnTo>
                  <a:pt x="4741629" y="0"/>
                </a:lnTo>
                <a:lnTo>
                  <a:pt x="4741629" y="4380080"/>
                </a:lnTo>
                <a:lnTo>
                  <a:pt x="0" y="438008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291792">
            <a:off x="16014429" y="1667685"/>
            <a:ext cx="2489416" cy="2349386"/>
          </a:xfrm>
          <a:custGeom>
            <a:avLst/>
            <a:gdLst/>
            <a:ahLst/>
            <a:cxnLst/>
            <a:rect r="r" b="b" t="t" l="l"/>
            <a:pathLst>
              <a:path h="2349386" w="2489416">
                <a:moveTo>
                  <a:pt x="0" y="0"/>
                </a:moveTo>
                <a:lnTo>
                  <a:pt x="2489416" y="0"/>
                </a:lnTo>
                <a:lnTo>
                  <a:pt x="2489416" y="2349386"/>
                </a:lnTo>
                <a:lnTo>
                  <a:pt x="0" y="23493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-483262" y="2992977"/>
            <a:ext cx="2703193" cy="2415979"/>
          </a:xfrm>
          <a:custGeom>
            <a:avLst/>
            <a:gdLst/>
            <a:ahLst/>
            <a:cxnLst/>
            <a:rect r="r" b="b" t="t" l="l"/>
            <a:pathLst>
              <a:path h="2415979" w="2703193">
                <a:moveTo>
                  <a:pt x="0" y="0"/>
                </a:moveTo>
                <a:lnTo>
                  <a:pt x="2703193" y="0"/>
                </a:lnTo>
                <a:lnTo>
                  <a:pt x="2703193" y="2415979"/>
                </a:lnTo>
                <a:lnTo>
                  <a:pt x="0" y="241597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413593" y="1292856"/>
            <a:ext cx="13460814" cy="823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6"/>
              </a:lnSpc>
            </a:pPr>
            <a:r>
              <a:rPr lang="en-US" sz="4064" spc="-13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Feature 5 — Dynamic Technical Categorization &amp; Search</a:t>
            </a:r>
          </a:p>
          <a:p>
            <a:pPr algn="l">
              <a:lnSpc>
                <a:spcPts val="4396"/>
              </a:lnSpc>
            </a:pPr>
          </a:p>
          <a:p>
            <a:pPr algn="l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homesearch.html provides a real-time search with instant suggestions</a:t>
            </a:r>
          </a:p>
          <a:p>
            <a:pPr algn="l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Category tabs: General, Web Development, Mobile Apps, AI &amp; Machine Learning, Data Science, UI/UX Design, Cybersecurity, Cloud Computing, Blockchain, Internet of Things</a:t>
            </a:r>
          </a:p>
          <a:p>
            <a:pPr algn="l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Backend supports GET /api/posts/search for keyword-based filtering</a:t>
            </a:r>
          </a:p>
          <a:p>
            <a:pPr algn="l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Posts can also be filtered by category through tab switching on the search page</a:t>
            </a:r>
          </a:p>
          <a:p>
            <a:pPr algn="l">
              <a:lnSpc>
                <a:spcPts val="439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400667">
            <a:off x="-938685" y="-361811"/>
            <a:ext cx="5054475" cy="3437043"/>
          </a:xfrm>
          <a:custGeom>
            <a:avLst/>
            <a:gdLst/>
            <a:ahLst/>
            <a:cxnLst/>
            <a:rect r="r" b="b" t="t" l="l"/>
            <a:pathLst>
              <a:path h="3437043" w="5054475">
                <a:moveTo>
                  <a:pt x="0" y="0"/>
                </a:moveTo>
                <a:lnTo>
                  <a:pt x="5054476" y="0"/>
                </a:lnTo>
                <a:lnTo>
                  <a:pt x="5054476" y="3437043"/>
                </a:lnTo>
                <a:lnTo>
                  <a:pt x="0" y="34370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162420" y="5710074"/>
            <a:ext cx="4590096" cy="5329575"/>
            <a:chOff x="0" y="0"/>
            <a:chExt cx="6120129" cy="7106100"/>
          </a:xfrm>
        </p:grpSpPr>
        <p:sp>
          <p:nvSpPr>
            <p:cNvPr name="Freeform 4" id="4"/>
            <p:cNvSpPr/>
            <p:nvPr/>
          </p:nvSpPr>
          <p:spPr>
            <a:xfrm flipH="true" flipV="false" rot="0">
              <a:off x="0" y="0"/>
              <a:ext cx="6120129" cy="7106100"/>
            </a:xfrm>
            <a:custGeom>
              <a:avLst/>
              <a:gdLst/>
              <a:ahLst/>
              <a:cxnLst/>
              <a:rect r="r" b="b" t="t" l="l"/>
              <a:pathLst>
                <a:path h="7106100" w="6120129">
                  <a:moveTo>
                    <a:pt x="6120129" y="0"/>
                  </a:moveTo>
                  <a:lnTo>
                    <a:pt x="0" y="0"/>
                  </a:lnTo>
                  <a:lnTo>
                    <a:pt x="0" y="7106100"/>
                  </a:lnTo>
                  <a:lnTo>
                    <a:pt x="6120129" y="7106100"/>
                  </a:lnTo>
                  <a:lnTo>
                    <a:pt x="6120129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  <p:grpSp>
          <p:nvGrpSpPr>
            <p:cNvPr name="Group 5" id="5"/>
            <p:cNvGrpSpPr/>
            <p:nvPr/>
          </p:nvGrpSpPr>
          <p:grpSpPr>
            <a:xfrm rot="0">
              <a:off x="495542" y="1528798"/>
              <a:ext cx="1490777" cy="603468"/>
              <a:chOff x="0" y="0"/>
              <a:chExt cx="294475" cy="119204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0" y="0"/>
                <a:ext cx="294475" cy="119204"/>
              </a:xfrm>
              <a:custGeom>
                <a:avLst/>
                <a:gdLst/>
                <a:ahLst/>
                <a:cxnLst/>
                <a:rect r="r" b="b" t="t" l="l"/>
                <a:pathLst>
                  <a:path h="119204" w="294475">
                    <a:moveTo>
                      <a:pt x="0" y="0"/>
                    </a:moveTo>
                    <a:lnTo>
                      <a:pt x="294475" y="0"/>
                    </a:lnTo>
                    <a:lnTo>
                      <a:pt x="294475" y="119204"/>
                    </a:lnTo>
                    <a:lnTo>
                      <a:pt x="0" y="119204"/>
                    </a:lnTo>
                    <a:close/>
                  </a:path>
                </a:pathLst>
              </a:custGeom>
              <a:solidFill>
                <a:srgbClr val="FFDE5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" id="7"/>
              <p:cNvSpPr txBox="true"/>
              <p:nvPr/>
            </p:nvSpPr>
            <p:spPr>
              <a:xfrm>
                <a:off x="0" y="9525"/>
                <a:ext cx="294475" cy="109679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984"/>
                  </a:lnSpc>
                </a:pPr>
              </a:p>
            </p:txBody>
          </p:sp>
        </p:grpSp>
      </p:grpSp>
      <p:sp>
        <p:nvSpPr>
          <p:cNvPr name="Freeform 8" id="8"/>
          <p:cNvSpPr/>
          <p:nvPr/>
        </p:nvSpPr>
        <p:spPr>
          <a:xfrm flipH="false" flipV="false" rot="2636248">
            <a:off x="234637" y="8589281"/>
            <a:ext cx="924705" cy="1095946"/>
          </a:xfrm>
          <a:custGeom>
            <a:avLst/>
            <a:gdLst/>
            <a:ahLst/>
            <a:cxnLst/>
            <a:rect r="r" b="b" t="t" l="l"/>
            <a:pathLst>
              <a:path h="1095946" w="924705">
                <a:moveTo>
                  <a:pt x="0" y="0"/>
                </a:moveTo>
                <a:lnTo>
                  <a:pt x="924705" y="0"/>
                </a:lnTo>
                <a:lnTo>
                  <a:pt x="924705" y="1095946"/>
                </a:lnTo>
                <a:lnTo>
                  <a:pt x="0" y="10959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1261215">
            <a:off x="335524" y="4781072"/>
            <a:ext cx="1386352" cy="2218163"/>
          </a:xfrm>
          <a:custGeom>
            <a:avLst/>
            <a:gdLst/>
            <a:ahLst/>
            <a:cxnLst/>
            <a:rect r="r" b="b" t="t" l="l"/>
            <a:pathLst>
              <a:path h="2218163" w="1386352">
                <a:moveTo>
                  <a:pt x="0" y="0"/>
                </a:moveTo>
                <a:lnTo>
                  <a:pt x="1386352" y="0"/>
                </a:lnTo>
                <a:lnTo>
                  <a:pt x="1386352" y="2218164"/>
                </a:lnTo>
                <a:lnTo>
                  <a:pt x="0" y="221816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427673">
            <a:off x="16468038" y="2992524"/>
            <a:ext cx="1582524" cy="2327242"/>
          </a:xfrm>
          <a:custGeom>
            <a:avLst/>
            <a:gdLst/>
            <a:ahLst/>
            <a:cxnLst/>
            <a:rect r="r" b="b" t="t" l="l"/>
            <a:pathLst>
              <a:path h="2327242" w="1582524">
                <a:moveTo>
                  <a:pt x="0" y="0"/>
                </a:moveTo>
                <a:lnTo>
                  <a:pt x="1582524" y="0"/>
                </a:lnTo>
                <a:lnTo>
                  <a:pt x="1582524" y="2327242"/>
                </a:lnTo>
                <a:lnTo>
                  <a:pt x="0" y="232724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2139552" y="2013294"/>
            <a:ext cx="13460814" cy="6791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6"/>
              </a:lnSpc>
            </a:pPr>
            <a:r>
              <a:rPr lang="en-US" sz="4064" spc="-13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Feature 6 — Following System &amp; Personalized Feed</a:t>
            </a:r>
          </a:p>
          <a:p>
            <a:pPr algn="l">
              <a:lnSpc>
                <a:spcPts val="4396"/>
              </a:lnSpc>
            </a:pPr>
          </a:p>
          <a:p>
            <a:pPr algn="l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Users can follow/unfollow others; counts stored in followers[] and following[] arrays in User.js</a:t>
            </a:r>
          </a:p>
          <a:p>
            <a:pPr algn="l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following.html fetches all posts and filters to show only those from followed authors</a:t>
            </a:r>
          </a:p>
          <a:p>
            <a:pPr algn="l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GET /api/posts/following-feed is a dedicated protected route for this</a:t>
            </a:r>
          </a:p>
          <a:p>
            <a:pPr algn="l" marL="791086" indent="-395543" lvl="1">
              <a:lnSpc>
                <a:spcPts val="5716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Follow actions trigger a 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Notification</a:t>
            </a: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 to the target user</a:t>
            </a:r>
          </a:p>
          <a:p>
            <a:pPr algn="l">
              <a:lnSpc>
                <a:spcPts val="4396"/>
              </a:lnSpc>
            </a:pPr>
          </a:p>
        </p:txBody>
      </p:sp>
      <p:grpSp>
        <p:nvGrpSpPr>
          <p:cNvPr name="Group 12" id="12"/>
          <p:cNvGrpSpPr/>
          <p:nvPr/>
        </p:nvGrpSpPr>
        <p:grpSpPr>
          <a:xfrm rot="0">
            <a:off x="-171142" y="6156698"/>
            <a:ext cx="22640648" cy="12654460"/>
            <a:chOff x="0" y="0"/>
            <a:chExt cx="30187531" cy="16872613"/>
          </a:xfrm>
        </p:grpSpPr>
        <p:sp>
          <p:nvSpPr>
            <p:cNvPr name="Freeform 13" id="1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91792">
            <a:off x="16014429" y="1667685"/>
            <a:ext cx="2489416" cy="2349386"/>
          </a:xfrm>
          <a:custGeom>
            <a:avLst/>
            <a:gdLst/>
            <a:ahLst/>
            <a:cxnLst/>
            <a:rect r="r" b="b" t="t" l="l"/>
            <a:pathLst>
              <a:path h="2349386" w="2489416">
                <a:moveTo>
                  <a:pt x="0" y="0"/>
                </a:moveTo>
                <a:lnTo>
                  <a:pt x="2489416" y="0"/>
                </a:lnTo>
                <a:lnTo>
                  <a:pt x="2489416" y="2349386"/>
                </a:lnTo>
                <a:lnTo>
                  <a:pt x="0" y="2349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148632" y="6111432"/>
            <a:ext cx="22640648" cy="12654460"/>
            <a:chOff x="0" y="0"/>
            <a:chExt cx="30187531" cy="16872613"/>
          </a:xfrm>
        </p:grpSpPr>
        <p:sp>
          <p:nvSpPr>
            <p:cNvPr name="Freeform 4" id="4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3653784" y="5950702"/>
            <a:ext cx="4487585" cy="5497807"/>
          </a:xfrm>
          <a:custGeom>
            <a:avLst/>
            <a:gdLst/>
            <a:ahLst/>
            <a:cxnLst/>
            <a:rect r="r" b="b" t="t" l="l"/>
            <a:pathLst>
              <a:path h="5497807" w="4487585">
                <a:moveTo>
                  <a:pt x="0" y="0"/>
                </a:moveTo>
                <a:lnTo>
                  <a:pt x="4487585" y="0"/>
                </a:lnTo>
                <a:lnTo>
                  <a:pt x="4487585" y="5497807"/>
                </a:lnTo>
                <a:lnTo>
                  <a:pt x="0" y="549780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0">
            <a:off x="-636985" y="4742713"/>
            <a:ext cx="2703193" cy="2415979"/>
          </a:xfrm>
          <a:custGeom>
            <a:avLst/>
            <a:gdLst/>
            <a:ahLst/>
            <a:cxnLst/>
            <a:rect r="r" b="b" t="t" l="l"/>
            <a:pathLst>
              <a:path h="2415979" w="2703193">
                <a:moveTo>
                  <a:pt x="0" y="0"/>
                </a:moveTo>
                <a:lnTo>
                  <a:pt x="2703193" y="0"/>
                </a:lnTo>
                <a:lnTo>
                  <a:pt x="2703193" y="2415979"/>
                </a:lnTo>
                <a:lnTo>
                  <a:pt x="0" y="2415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807470">
            <a:off x="520444" y="8396160"/>
            <a:ext cx="1304342" cy="1067930"/>
          </a:xfrm>
          <a:custGeom>
            <a:avLst/>
            <a:gdLst/>
            <a:ahLst/>
            <a:cxnLst/>
            <a:rect r="r" b="b" t="t" l="l"/>
            <a:pathLst>
              <a:path h="1067930" w="1304342">
                <a:moveTo>
                  <a:pt x="0" y="0"/>
                </a:moveTo>
                <a:lnTo>
                  <a:pt x="1304342" y="0"/>
                </a:lnTo>
                <a:lnTo>
                  <a:pt x="1304342" y="1067930"/>
                </a:lnTo>
                <a:lnTo>
                  <a:pt x="0" y="106793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9" id="9"/>
          <p:cNvSpPr txBox="true"/>
          <p:nvPr/>
        </p:nvSpPr>
        <p:spPr>
          <a:xfrm rot="0">
            <a:off x="2413593" y="2262187"/>
            <a:ext cx="13460814" cy="577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96"/>
              </a:lnSpc>
            </a:pPr>
            <a:r>
              <a:rPr lang="en-US" sz="4164" spc="-133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Feature 7 — Real-Time Notifications</a:t>
            </a:r>
          </a:p>
          <a:p>
            <a:pPr algn="l">
              <a:lnSpc>
                <a:spcPts val="4396"/>
              </a:lnSpc>
            </a:pPr>
          </a:p>
          <a:p>
            <a:pPr algn="l" marL="791086" indent="-395543" lvl="1">
              <a:lnSpc>
                <a:spcPts val="6448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Notifications generated on: likes, comments, replies, and follows</a:t>
            </a:r>
          </a:p>
          <a:p>
            <a:pPr algn="l" marL="791086" indent="-395543" lvl="1">
              <a:lnSpc>
                <a:spcPts val="6448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Notification.js model stores recipient, sender, type, linked post, and isRead status</a:t>
            </a:r>
          </a:p>
          <a:p>
            <a:pPr algn="l" marL="791086" indent="-395543" lvl="1">
              <a:lnSpc>
                <a:spcPts val="6448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Bell icon in the navbar shows an unread badge count</a:t>
            </a:r>
          </a:p>
          <a:p>
            <a:pPr algn="l" marL="791086" indent="-395543" lvl="1">
              <a:lnSpc>
                <a:spcPts val="6448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PUT /api/notifications/read marks all as read instantly</a:t>
            </a:r>
          </a:p>
          <a:p>
            <a:pPr algn="l">
              <a:lnSpc>
                <a:spcPts val="4396"/>
              </a:lnSpc>
            </a:pP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375476" y="-476987"/>
            <a:ext cx="1306449" cy="4114800"/>
          </a:xfrm>
          <a:custGeom>
            <a:avLst/>
            <a:gdLst/>
            <a:ahLst/>
            <a:cxnLst/>
            <a:rect r="r" b="b" t="t" l="l"/>
            <a:pathLst>
              <a:path h="4114800" w="1306449">
                <a:moveTo>
                  <a:pt x="0" y="0"/>
                </a:moveTo>
                <a:lnTo>
                  <a:pt x="1306448" y="0"/>
                </a:lnTo>
                <a:lnTo>
                  <a:pt x="13064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291792">
            <a:off x="16014429" y="1667685"/>
            <a:ext cx="2489416" cy="2349386"/>
          </a:xfrm>
          <a:custGeom>
            <a:avLst/>
            <a:gdLst/>
            <a:ahLst/>
            <a:cxnLst/>
            <a:rect r="r" b="b" t="t" l="l"/>
            <a:pathLst>
              <a:path h="2349386" w="2489416">
                <a:moveTo>
                  <a:pt x="0" y="0"/>
                </a:moveTo>
                <a:lnTo>
                  <a:pt x="2489416" y="0"/>
                </a:lnTo>
                <a:lnTo>
                  <a:pt x="2489416" y="2349386"/>
                </a:lnTo>
                <a:lnTo>
                  <a:pt x="0" y="23493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6449082"/>
            <a:ext cx="22640648" cy="12654460"/>
            <a:chOff x="0" y="0"/>
            <a:chExt cx="30187531" cy="16872613"/>
          </a:xfrm>
        </p:grpSpPr>
        <p:sp>
          <p:nvSpPr>
            <p:cNvPr name="Freeform 4" id="4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5" id="5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726898" y="5143500"/>
            <a:ext cx="2703193" cy="2415979"/>
          </a:xfrm>
          <a:custGeom>
            <a:avLst/>
            <a:gdLst/>
            <a:ahLst/>
            <a:cxnLst/>
            <a:rect r="r" b="b" t="t" l="l"/>
            <a:pathLst>
              <a:path h="2415979" w="2703193">
                <a:moveTo>
                  <a:pt x="0" y="0"/>
                </a:moveTo>
                <a:lnTo>
                  <a:pt x="2703194" y="0"/>
                </a:lnTo>
                <a:lnTo>
                  <a:pt x="2703194" y="2415979"/>
                </a:lnTo>
                <a:lnTo>
                  <a:pt x="0" y="24159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7" id="7"/>
          <p:cNvSpPr/>
          <p:nvPr/>
        </p:nvSpPr>
        <p:spPr>
          <a:xfrm flipH="false" flipV="false" rot="807470">
            <a:off x="520444" y="8396160"/>
            <a:ext cx="1304342" cy="1067930"/>
          </a:xfrm>
          <a:custGeom>
            <a:avLst/>
            <a:gdLst/>
            <a:ahLst/>
            <a:cxnLst/>
            <a:rect r="r" b="b" t="t" l="l"/>
            <a:pathLst>
              <a:path h="1067930" w="1304342">
                <a:moveTo>
                  <a:pt x="0" y="0"/>
                </a:moveTo>
                <a:lnTo>
                  <a:pt x="1304342" y="0"/>
                </a:lnTo>
                <a:lnTo>
                  <a:pt x="1304342" y="1067930"/>
                </a:lnTo>
                <a:lnTo>
                  <a:pt x="0" y="10679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8" id="8"/>
          <p:cNvSpPr txBox="true"/>
          <p:nvPr/>
        </p:nvSpPr>
        <p:spPr>
          <a:xfrm rot="0">
            <a:off x="2413593" y="2550027"/>
            <a:ext cx="13460814" cy="6181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76"/>
              </a:lnSpc>
            </a:pPr>
            <a:r>
              <a:rPr lang="en-US" sz="4064" spc="-130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Feature 8 — Settings &amp; Personalization</a:t>
            </a:r>
          </a:p>
          <a:p>
            <a:pPr algn="l">
              <a:lnSpc>
                <a:spcPts val="4396"/>
              </a:lnSpc>
            </a:pPr>
          </a:p>
          <a:p>
            <a:pPr algn="l" marL="791086" indent="-395543" lvl="1">
              <a:lnSpc>
                <a:spcPts val="5899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settings.html allows theme (light/dark), font size, language, and timezone preferences</a:t>
            </a:r>
          </a:p>
          <a:p>
            <a:pPr algn="l" marL="791086" indent="-395543" lvl="1">
              <a:lnSpc>
                <a:spcPts val="5899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Saved to the user's settings sub-document in MongoDB via PUT /api/users/update</a:t>
            </a:r>
          </a:p>
          <a:p>
            <a:pPr algn="l" marL="791086" indent="-395543" lvl="1">
              <a:lnSpc>
                <a:spcPts val="5899"/>
              </a:lnSpc>
              <a:buFont typeface="Arial"/>
              <a:buChar char="•"/>
            </a:pPr>
            <a:r>
              <a:rPr lang="en-US" sz="3664" spc="-117">
                <a:solidFill>
                  <a:srgbClr val="FFFFFF"/>
                </a:solidFill>
                <a:latin typeface="Sniglet"/>
                <a:ea typeface="Sniglet"/>
                <a:cs typeface="Sniglet"/>
                <a:sym typeface="Sniglet"/>
              </a:rPr>
              <a:t>Dark mode applied globally via localStorage and CSS class toggling across all pages</a:t>
            </a:r>
          </a:p>
          <a:p>
            <a:pPr algn="l">
              <a:lnSpc>
                <a:spcPts val="4396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375476" y="-167017"/>
            <a:ext cx="1306449" cy="4114800"/>
          </a:xfrm>
          <a:custGeom>
            <a:avLst/>
            <a:gdLst/>
            <a:ahLst/>
            <a:cxnLst/>
            <a:rect r="r" b="b" t="t" l="l"/>
            <a:pathLst>
              <a:path h="4114800" w="1306449">
                <a:moveTo>
                  <a:pt x="0" y="0"/>
                </a:moveTo>
                <a:lnTo>
                  <a:pt x="1306448" y="0"/>
                </a:lnTo>
                <a:lnTo>
                  <a:pt x="130644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48615" y="6087800"/>
            <a:ext cx="4897922" cy="5287905"/>
          </a:xfrm>
          <a:custGeom>
            <a:avLst/>
            <a:gdLst/>
            <a:ahLst/>
            <a:cxnLst/>
            <a:rect r="r" b="b" t="t" l="l"/>
            <a:pathLst>
              <a:path h="5287905" w="4897922">
                <a:moveTo>
                  <a:pt x="0" y="0"/>
                </a:moveTo>
                <a:lnTo>
                  <a:pt x="4897922" y="0"/>
                </a:lnTo>
                <a:lnTo>
                  <a:pt x="4897922" y="5287905"/>
                </a:lnTo>
                <a:lnTo>
                  <a:pt x="0" y="5287905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047" y="4782394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29151" y="2826940"/>
            <a:ext cx="13888040" cy="6161240"/>
          </a:xfrm>
          <a:custGeom>
            <a:avLst/>
            <a:gdLst/>
            <a:ahLst/>
            <a:cxnLst/>
            <a:rect r="r" b="b" t="t" l="l"/>
            <a:pathLst>
              <a:path h="6161240" w="13888040">
                <a:moveTo>
                  <a:pt x="0" y="0"/>
                </a:moveTo>
                <a:lnTo>
                  <a:pt x="13888040" y="0"/>
                </a:lnTo>
                <a:lnTo>
                  <a:pt x="13888040" y="6161240"/>
                </a:lnTo>
                <a:lnTo>
                  <a:pt x="0" y="6161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396193">
            <a:off x="14515542" y="5795123"/>
            <a:ext cx="3489021" cy="5130913"/>
          </a:xfrm>
          <a:custGeom>
            <a:avLst/>
            <a:gdLst/>
            <a:ahLst/>
            <a:cxnLst/>
            <a:rect r="r" b="b" t="t" l="l"/>
            <a:pathLst>
              <a:path h="5130913" w="3489021">
                <a:moveTo>
                  <a:pt x="3489021" y="0"/>
                </a:moveTo>
                <a:lnTo>
                  <a:pt x="0" y="0"/>
                </a:lnTo>
                <a:lnTo>
                  <a:pt x="0" y="5130913"/>
                </a:lnTo>
                <a:lnTo>
                  <a:pt x="3489021" y="5130913"/>
                </a:lnTo>
                <a:lnTo>
                  <a:pt x="34890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7" id="7"/>
          <p:cNvSpPr txBox="true"/>
          <p:nvPr/>
        </p:nvSpPr>
        <p:spPr>
          <a:xfrm rot="0">
            <a:off x="1533401" y="3243706"/>
            <a:ext cx="11879540" cy="521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Recursive Nested Comments</a:t>
            </a:r>
          </a:p>
          <a:p>
            <a:pPr algn="l" marL="841085" indent="-420543" lvl="1">
              <a:lnSpc>
                <a:spcPts val="5999"/>
              </a:lnSpc>
              <a:buFont typeface="Arial"/>
              <a:buChar char="•"/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Problem: Standard flat comment schemas don't support infinite threading</a:t>
            </a:r>
          </a:p>
          <a:p>
            <a:pPr algn="l">
              <a:lnSpc>
                <a:spcPts val="5999"/>
              </a:lnSpc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Solution: Made commentSchema reference itself using .add({ replies: [commentSchema] }) and wrote a recursive autoPopulateUser pre-query middleware to populate author names at every depth level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727812">
            <a:off x="14711537" y="81120"/>
            <a:ext cx="3422257" cy="3165133"/>
          </a:xfrm>
          <a:custGeom>
            <a:avLst/>
            <a:gdLst/>
            <a:ahLst/>
            <a:cxnLst/>
            <a:rect r="r" b="b" t="t" l="l"/>
            <a:pathLst>
              <a:path h="3165133" w="3422257">
                <a:moveTo>
                  <a:pt x="0" y="0"/>
                </a:moveTo>
                <a:lnTo>
                  <a:pt x="3422257" y="0"/>
                </a:lnTo>
                <a:lnTo>
                  <a:pt x="3422257" y="3165132"/>
                </a:lnTo>
                <a:lnTo>
                  <a:pt x="0" y="316513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13205" y="-66243"/>
            <a:ext cx="8620967" cy="234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6"/>
              </a:lnSpc>
            </a:pPr>
            <a:r>
              <a:rPr lang="en-US" b="true" sz="6625" spc="-132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CHALLENGES ENCOUNTERED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047" y="4782394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29151" y="2826940"/>
            <a:ext cx="13888040" cy="6161240"/>
          </a:xfrm>
          <a:custGeom>
            <a:avLst/>
            <a:gdLst/>
            <a:ahLst/>
            <a:cxnLst/>
            <a:rect r="r" b="b" t="t" l="l"/>
            <a:pathLst>
              <a:path h="6161240" w="13888040">
                <a:moveTo>
                  <a:pt x="0" y="0"/>
                </a:moveTo>
                <a:lnTo>
                  <a:pt x="13888040" y="0"/>
                </a:lnTo>
                <a:lnTo>
                  <a:pt x="13888040" y="6161240"/>
                </a:lnTo>
                <a:lnTo>
                  <a:pt x="0" y="6161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3401" y="3243706"/>
            <a:ext cx="11879540" cy="5965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JWT Token Inconsistency Across Pages</a:t>
            </a:r>
          </a:p>
          <a:p>
            <a:pPr algn="l" marL="841085" indent="-420543" lvl="1">
              <a:lnSpc>
                <a:spcPts val="5999"/>
              </a:lnSpc>
              <a:buFont typeface="Arial"/>
              <a:buChar char="•"/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Problem: Some pages couldn't find the token because it was saved under different localStorage keys (token vs inside nexusUser object)</a:t>
            </a:r>
          </a:p>
          <a:p>
            <a:pPr algn="l" marL="841085" indent="-420543" lvl="1">
              <a:lnSpc>
                <a:spcPts val="5999"/>
              </a:lnSpc>
              <a:buFont typeface="Arial"/>
              <a:buChar char="•"/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Solution: Standardized token retrieval — login saves to both token key and inside the nexusUser object; all pages pull from nexusUser.token</a:t>
            </a:r>
          </a:p>
          <a:p>
            <a:pPr algn="l">
              <a:lnSpc>
                <a:spcPts val="59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-881574">
            <a:off x="15056399" y="2818607"/>
            <a:ext cx="3265516" cy="2719284"/>
          </a:xfrm>
          <a:custGeom>
            <a:avLst/>
            <a:gdLst/>
            <a:ahLst/>
            <a:cxnLst/>
            <a:rect r="r" b="b" t="t" l="l"/>
            <a:pathLst>
              <a:path h="2719284" w="3265516">
                <a:moveTo>
                  <a:pt x="0" y="0"/>
                </a:moveTo>
                <a:lnTo>
                  <a:pt x="3265516" y="0"/>
                </a:lnTo>
                <a:lnTo>
                  <a:pt x="3265516" y="2719284"/>
                </a:lnTo>
                <a:lnTo>
                  <a:pt x="0" y="27192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13205" y="-66243"/>
            <a:ext cx="8620967" cy="234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6"/>
              </a:lnSpc>
            </a:pPr>
            <a:r>
              <a:rPr lang="en-US" b="true" sz="6625" spc="-132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CHALLENGES ENCOUNTERED</a:t>
            </a:r>
          </a:p>
        </p:txBody>
      </p:sp>
      <p:sp>
        <p:nvSpPr>
          <p:cNvPr name="Freeform 9" id="9"/>
          <p:cNvSpPr/>
          <p:nvPr/>
        </p:nvSpPr>
        <p:spPr>
          <a:xfrm flipH="true" flipV="false" rot="0">
            <a:off x="14417191" y="6293021"/>
            <a:ext cx="4045947" cy="4816603"/>
          </a:xfrm>
          <a:custGeom>
            <a:avLst/>
            <a:gdLst/>
            <a:ahLst/>
            <a:cxnLst/>
            <a:rect r="r" b="b" t="t" l="l"/>
            <a:pathLst>
              <a:path h="4816603" w="4045947">
                <a:moveTo>
                  <a:pt x="4045947" y="0"/>
                </a:moveTo>
                <a:lnTo>
                  <a:pt x="0" y="0"/>
                </a:lnTo>
                <a:lnTo>
                  <a:pt x="0" y="4816603"/>
                </a:lnTo>
                <a:lnTo>
                  <a:pt x="4045947" y="4816603"/>
                </a:lnTo>
                <a:lnTo>
                  <a:pt x="4045947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047" y="4782394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29151" y="2826940"/>
            <a:ext cx="13888040" cy="6161240"/>
          </a:xfrm>
          <a:custGeom>
            <a:avLst/>
            <a:gdLst/>
            <a:ahLst/>
            <a:cxnLst/>
            <a:rect r="r" b="b" t="t" l="l"/>
            <a:pathLst>
              <a:path h="6161240" w="13888040">
                <a:moveTo>
                  <a:pt x="0" y="0"/>
                </a:moveTo>
                <a:lnTo>
                  <a:pt x="13888040" y="0"/>
                </a:lnTo>
                <a:lnTo>
                  <a:pt x="13888040" y="6161240"/>
                </a:lnTo>
                <a:lnTo>
                  <a:pt x="0" y="6161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3401" y="3619943"/>
            <a:ext cx="11879540" cy="446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Dark Mode Flash on Page Load</a:t>
            </a:r>
          </a:p>
          <a:p>
            <a:pPr algn="l" marL="841085" indent="-420543" lvl="1">
              <a:lnSpc>
                <a:spcPts val="5999"/>
              </a:lnSpc>
              <a:buFont typeface="Arial"/>
              <a:buChar char="•"/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Problem: Pages would briefly show white/light mode before the dark class was applied by JavaScript</a:t>
            </a:r>
          </a:p>
          <a:p>
            <a:pPr algn="l">
              <a:lnSpc>
                <a:spcPts val="5999"/>
              </a:lnSpc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Solution: Called syncTheme() at the very top of each JS file before DOMContentLoaded, so the class is applied before the browser paints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-1411408">
            <a:off x="14619782" y="6680703"/>
            <a:ext cx="3768291" cy="3610708"/>
          </a:xfrm>
          <a:custGeom>
            <a:avLst/>
            <a:gdLst/>
            <a:ahLst/>
            <a:cxnLst/>
            <a:rect r="r" b="b" t="t" l="l"/>
            <a:pathLst>
              <a:path h="3610708" w="3768291">
                <a:moveTo>
                  <a:pt x="0" y="0"/>
                </a:moveTo>
                <a:lnTo>
                  <a:pt x="3768290" y="0"/>
                </a:lnTo>
                <a:lnTo>
                  <a:pt x="3768290" y="3610708"/>
                </a:lnTo>
                <a:lnTo>
                  <a:pt x="0" y="36107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513205" y="-66243"/>
            <a:ext cx="8620967" cy="234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6"/>
              </a:lnSpc>
            </a:pPr>
            <a:r>
              <a:rPr lang="en-US" b="true" sz="6625" spc="-132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CHALLENGES ENCOUNTERED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2552845">
            <a:off x="15619380" y="153336"/>
            <a:ext cx="2489416" cy="2349386"/>
          </a:xfrm>
          <a:custGeom>
            <a:avLst/>
            <a:gdLst/>
            <a:ahLst/>
            <a:cxnLst/>
            <a:rect r="r" b="b" t="t" l="l"/>
            <a:pathLst>
              <a:path h="2349386" w="2489416">
                <a:moveTo>
                  <a:pt x="0" y="0"/>
                </a:moveTo>
                <a:lnTo>
                  <a:pt x="2489416" y="0"/>
                </a:lnTo>
                <a:lnTo>
                  <a:pt x="2489416" y="2349386"/>
                </a:lnTo>
                <a:lnTo>
                  <a:pt x="0" y="234938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047" y="4782394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29151" y="2826940"/>
            <a:ext cx="13888040" cy="6161240"/>
          </a:xfrm>
          <a:custGeom>
            <a:avLst/>
            <a:gdLst/>
            <a:ahLst/>
            <a:cxnLst/>
            <a:rect r="r" b="b" t="t" l="l"/>
            <a:pathLst>
              <a:path h="6161240" w="13888040">
                <a:moveTo>
                  <a:pt x="0" y="0"/>
                </a:moveTo>
                <a:lnTo>
                  <a:pt x="13888040" y="0"/>
                </a:lnTo>
                <a:lnTo>
                  <a:pt x="13888040" y="6161240"/>
                </a:lnTo>
                <a:lnTo>
                  <a:pt x="0" y="6161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513205" y="-66243"/>
            <a:ext cx="8620967" cy="234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6"/>
              </a:lnSpc>
            </a:pPr>
            <a:r>
              <a:rPr lang="en-US" b="true" sz="6625" spc="-132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CHALLENGES ENCOUNTERED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3401" y="3597433"/>
            <a:ext cx="11879540" cy="521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Cloudinary Image Rendering Performance</a:t>
            </a:r>
          </a:p>
          <a:p>
            <a:pPr algn="l" marL="841085" indent="-420543" lvl="1">
              <a:lnSpc>
                <a:spcPts val="5999"/>
              </a:lnSpc>
              <a:buFont typeface="Arial"/>
              <a:buChar char="•"/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Problem: Storing large base64 images directly in MongoDB caused slowdowns</a:t>
            </a:r>
          </a:p>
          <a:p>
            <a:pPr algn="l" marL="841085" indent="-420543" lvl="1">
              <a:lnSpc>
                <a:spcPts val="5999"/>
              </a:lnSpc>
              <a:buFont typeface="Arial"/>
              <a:buChar char="•"/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Solution: Shifted entirely to Cloudinary — only the URL string is stored, reducing document size and improving load times dramatically</a:t>
            </a:r>
          </a:p>
          <a:p>
            <a:pPr algn="l">
              <a:lnSpc>
                <a:spcPts val="599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true" flipV="false" rot="0">
            <a:off x="14242053" y="5907560"/>
            <a:ext cx="4045947" cy="4816603"/>
          </a:xfrm>
          <a:custGeom>
            <a:avLst/>
            <a:gdLst/>
            <a:ahLst/>
            <a:cxnLst/>
            <a:rect r="r" b="b" t="t" l="l"/>
            <a:pathLst>
              <a:path h="4816603" w="4045947">
                <a:moveTo>
                  <a:pt x="4045947" y="0"/>
                </a:moveTo>
                <a:lnTo>
                  <a:pt x="0" y="0"/>
                </a:lnTo>
                <a:lnTo>
                  <a:pt x="0" y="4816603"/>
                </a:lnTo>
                <a:lnTo>
                  <a:pt x="4045947" y="4816603"/>
                </a:lnTo>
                <a:lnTo>
                  <a:pt x="404594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881574">
            <a:off x="14983719" y="2818607"/>
            <a:ext cx="3265516" cy="2719284"/>
          </a:xfrm>
          <a:custGeom>
            <a:avLst/>
            <a:gdLst/>
            <a:ahLst/>
            <a:cxnLst/>
            <a:rect r="r" b="b" t="t" l="l"/>
            <a:pathLst>
              <a:path h="2719284" w="3265516">
                <a:moveTo>
                  <a:pt x="0" y="0"/>
                </a:moveTo>
                <a:lnTo>
                  <a:pt x="3265516" y="0"/>
                </a:lnTo>
                <a:lnTo>
                  <a:pt x="3265516" y="2719284"/>
                </a:lnTo>
                <a:lnTo>
                  <a:pt x="0" y="27192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047" y="4782394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29151" y="2826940"/>
            <a:ext cx="13888040" cy="6161240"/>
          </a:xfrm>
          <a:custGeom>
            <a:avLst/>
            <a:gdLst/>
            <a:ahLst/>
            <a:cxnLst/>
            <a:rect r="r" b="b" t="t" l="l"/>
            <a:pathLst>
              <a:path h="6161240" w="13888040">
                <a:moveTo>
                  <a:pt x="0" y="0"/>
                </a:moveTo>
                <a:lnTo>
                  <a:pt x="13888040" y="0"/>
                </a:lnTo>
                <a:lnTo>
                  <a:pt x="13888040" y="6161240"/>
                </a:lnTo>
                <a:lnTo>
                  <a:pt x="0" y="6161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33401" y="3597433"/>
            <a:ext cx="11879540" cy="52134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99"/>
              </a:lnSpc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GitHub API CORS &amp; Rate Limiting</a:t>
            </a:r>
          </a:p>
          <a:p>
            <a:pPr algn="l" marL="841085" indent="-420543" lvl="1">
              <a:lnSpc>
                <a:spcPts val="5999"/>
              </a:lnSpc>
              <a:buFont typeface="Arial"/>
              <a:buChar char="•"/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Problem: Calling GitHub API directly from the frontend hit CORS issues</a:t>
            </a:r>
          </a:p>
          <a:p>
            <a:pPr algn="l" marL="841085" indent="-420543" lvl="1">
              <a:lnSpc>
                <a:spcPts val="5999"/>
              </a:lnSpc>
              <a:buFont typeface="Arial"/>
              <a:buChar char="•"/>
            </a:pPr>
            <a:r>
              <a:rPr lang="en-US" sz="3895" spc="-12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Solution: Proxied all GitHub calls through our own Express backend using Axios, which also adds a proper User-Agent header required by GitHub's API</a:t>
            </a:r>
          </a:p>
          <a:p>
            <a:pPr algn="l">
              <a:lnSpc>
                <a:spcPts val="5999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true" flipV="false" rot="-396193">
            <a:off x="14515542" y="5795123"/>
            <a:ext cx="3489021" cy="5130913"/>
          </a:xfrm>
          <a:custGeom>
            <a:avLst/>
            <a:gdLst/>
            <a:ahLst/>
            <a:cxnLst/>
            <a:rect r="r" b="b" t="t" l="l"/>
            <a:pathLst>
              <a:path h="5130913" w="3489021">
                <a:moveTo>
                  <a:pt x="3489021" y="0"/>
                </a:moveTo>
                <a:lnTo>
                  <a:pt x="0" y="0"/>
                </a:lnTo>
                <a:lnTo>
                  <a:pt x="0" y="5130913"/>
                </a:lnTo>
                <a:lnTo>
                  <a:pt x="3489021" y="5130913"/>
                </a:lnTo>
                <a:lnTo>
                  <a:pt x="348902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8" id="8"/>
          <p:cNvSpPr/>
          <p:nvPr/>
        </p:nvSpPr>
        <p:spPr>
          <a:xfrm flipH="false" flipV="false" rot="-1190377">
            <a:off x="13873146" y="769540"/>
            <a:ext cx="3830266" cy="4114800"/>
          </a:xfrm>
          <a:custGeom>
            <a:avLst/>
            <a:gdLst/>
            <a:ahLst/>
            <a:cxnLst/>
            <a:rect r="r" b="b" t="t" l="l"/>
            <a:pathLst>
              <a:path h="4114800" w="3830266">
                <a:moveTo>
                  <a:pt x="0" y="0"/>
                </a:moveTo>
                <a:lnTo>
                  <a:pt x="3830266" y="0"/>
                </a:lnTo>
                <a:lnTo>
                  <a:pt x="38302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513205" y="-66243"/>
            <a:ext cx="8620967" cy="234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6"/>
              </a:lnSpc>
            </a:pPr>
            <a:r>
              <a:rPr lang="en-US" b="true" sz="6625" spc="-132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CHALLENGES ENCOUNTERED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97B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95047" y="4782394"/>
            <a:ext cx="22640648" cy="12654460"/>
            <a:chOff x="0" y="0"/>
            <a:chExt cx="30187531" cy="16872613"/>
          </a:xfrm>
        </p:grpSpPr>
        <p:sp>
          <p:nvSpPr>
            <p:cNvPr name="Freeform 3" id="3"/>
            <p:cNvSpPr/>
            <p:nvPr/>
          </p:nvSpPr>
          <p:spPr>
            <a:xfrm flipH="false" flipV="false" rot="-5400000">
              <a:off x="0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4" id="4"/>
            <p:cNvSpPr/>
            <p:nvPr/>
          </p:nvSpPr>
          <p:spPr>
            <a:xfrm flipH="false" flipV="false" rot="-5400000">
              <a:off x="13314918" y="0"/>
              <a:ext cx="16872613" cy="16872613"/>
            </a:xfrm>
            <a:custGeom>
              <a:avLst/>
              <a:gdLst/>
              <a:ahLst/>
              <a:cxnLst/>
              <a:rect r="r" b="b" t="t" l="l"/>
              <a:pathLst>
                <a:path h="16872613" w="16872613">
                  <a:moveTo>
                    <a:pt x="0" y="0"/>
                  </a:moveTo>
                  <a:lnTo>
                    <a:pt x="16872613" y="0"/>
                  </a:lnTo>
                  <a:lnTo>
                    <a:pt x="16872613" y="16872613"/>
                  </a:lnTo>
                  <a:lnTo>
                    <a:pt x="0" y="16872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529151" y="2826940"/>
            <a:ext cx="13888040" cy="6161240"/>
          </a:xfrm>
          <a:custGeom>
            <a:avLst/>
            <a:gdLst/>
            <a:ahLst/>
            <a:cxnLst/>
            <a:rect r="r" b="b" t="t" l="l"/>
            <a:pathLst>
              <a:path h="6161240" w="13888040">
                <a:moveTo>
                  <a:pt x="0" y="0"/>
                </a:moveTo>
                <a:lnTo>
                  <a:pt x="13888040" y="0"/>
                </a:lnTo>
                <a:lnTo>
                  <a:pt x="13888040" y="6161240"/>
                </a:lnTo>
                <a:lnTo>
                  <a:pt x="0" y="61612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384545" y="3304871"/>
            <a:ext cx="11749628" cy="5683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34709" indent="-317354" lvl="1">
              <a:lnSpc>
                <a:spcPts val="4527"/>
              </a:lnSpc>
              <a:buFont typeface="Arial"/>
              <a:buChar char="•"/>
            </a:pP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Real-time notifications</a:t>
            </a: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using WebSockets (Socket.io) instead of polling</a:t>
            </a:r>
          </a:p>
          <a:p>
            <a:pPr algn="l" marL="634709" indent="-317354" lvl="1">
              <a:lnSpc>
                <a:spcPts val="4527"/>
              </a:lnSpc>
              <a:buFont typeface="Arial"/>
              <a:buChar char="•"/>
            </a:pP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Rich text editor</a:t>
            </a: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(e.g., TipTap or Quill.js) for code syntax highlighting in posts</a:t>
            </a:r>
          </a:p>
          <a:p>
            <a:pPr algn="l" marL="634709" indent="-317354" lvl="1">
              <a:lnSpc>
                <a:spcPts val="4527"/>
              </a:lnSpc>
              <a:buFont typeface="Arial"/>
              <a:buChar char="•"/>
            </a:pP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Search by user</a:t>
            </a: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in addition to posts and categories</a:t>
            </a:r>
          </a:p>
          <a:p>
            <a:pPr algn="l" marL="634709" indent="-317354" lvl="1">
              <a:lnSpc>
                <a:spcPts val="4527"/>
              </a:lnSpc>
              <a:buFont typeface="Arial"/>
              <a:buChar char="•"/>
            </a:pP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Email verification</a:t>
            </a: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on signup for stronger account authenticity</a:t>
            </a:r>
          </a:p>
          <a:p>
            <a:pPr algn="l" marL="634709" indent="-317354" lvl="1">
              <a:lnSpc>
                <a:spcPts val="4527"/>
              </a:lnSpc>
              <a:buFont typeface="Arial"/>
              <a:buChar char="•"/>
            </a:pP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Post bookmarking</a:t>
            </a: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— save posts for later reading</a:t>
            </a:r>
          </a:p>
          <a:p>
            <a:pPr algn="l" marL="634709" indent="-317354" lvl="1">
              <a:lnSpc>
                <a:spcPts val="4527"/>
              </a:lnSpc>
              <a:buFont typeface="Arial"/>
              <a:buChar char="•"/>
            </a:pP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Analytics dashboard</a:t>
            </a: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— show authors how many views and likes their posts get over time</a:t>
            </a:r>
          </a:p>
          <a:p>
            <a:pPr algn="l" marL="634709" indent="-317354" lvl="1">
              <a:lnSpc>
                <a:spcPts val="4527"/>
              </a:lnSpc>
              <a:buFont typeface="Arial"/>
              <a:buChar char="•"/>
            </a:pP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Mobile app</a:t>
            </a:r>
            <a:r>
              <a:rPr lang="en-US" sz="2939" spc="-94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 — convert the existing PWA into a full React Native app</a:t>
            </a:r>
          </a:p>
          <a:p>
            <a:pPr algn="l">
              <a:lnSpc>
                <a:spcPts val="4527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722059" y="5592296"/>
            <a:ext cx="5921274" cy="4959067"/>
          </a:xfrm>
          <a:custGeom>
            <a:avLst/>
            <a:gdLst/>
            <a:ahLst/>
            <a:cxnLst/>
            <a:rect r="r" b="b" t="t" l="l"/>
            <a:pathLst>
              <a:path h="4959067" w="5921274">
                <a:moveTo>
                  <a:pt x="0" y="0"/>
                </a:moveTo>
                <a:lnTo>
                  <a:pt x="5921274" y="0"/>
                </a:lnTo>
                <a:lnTo>
                  <a:pt x="5921274" y="4959068"/>
                </a:lnTo>
                <a:lnTo>
                  <a:pt x="0" y="49590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309570">
            <a:off x="12846843" y="1738827"/>
            <a:ext cx="3140697" cy="1593904"/>
          </a:xfrm>
          <a:custGeom>
            <a:avLst/>
            <a:gdLst/>
            <a:ahLst/>
            <a:cxnLst/>
            <a:rect r="r" b="b" t="t" l="l"/>
            <a:pathLst>
              <a:path h="1593904" w="3140697">
                <a:moveTo>
                  <a:pt x="0" y="0"/>
                </a:moveTo>
                <a:lnTo>
                  <a:pt x="3140697" y="0"/>
                </a:lnTo>
                <a:lnTo>
                  <a:pt x="3140697" y="1593904"/>
                </a:lnTo>
                <a:lnTo>
                  <a:pt x="0" y="159390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342768" y="-66243"/>
            <a:ext cx="8620967" cy="23408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956"/>
              </a:lnSpc>
            </a:pPr>
            <a:r>
              <a:rPr lang="en-US" b="true" sz="6625" spc="-132">
                <a:solidFill>
                  <a:srgbClr val="FFFFFF"/>
                </a:solidFill>
                <a:latin typeface="Biski Bold"/>
                <a:ea typeface="Biski Bold"/>
                <a:cs typeface="Biski Bold"/>
                <a:sym typeface="Biski Bold"/>
              </a:rPr>
              <a:t>FUTURE IMPROVEMENTS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DAHJRpbVsjU</dc:identifier>
  <dcterms:modified xsi:type="dcterms:W3CDTF">2011-08-01T06:04:30Z</dcterms:modified>
  <cp:revision>1</cp:revision>
  <dc:title>Beige and Teal Illustrative Blog Writing Prompt Talking Presentation</dc:title>
</cp:coreProperties>
</file>